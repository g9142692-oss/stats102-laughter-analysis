
<file path=[Content_Types].xml><?xml version="1.0" encoding="utf-8"?>
<Types xmlns="http://schemas.openxmlformats.org/package/2006/content-types">
  <Default Extension="tiff" ContentType="image/tiff"/>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331" r:id="rId3"/>
    <p:sldId id="259" r:id="rId5"/>
    <p:sldId id="308" r:id="rId6"/>
    <p:sldId id="327" r:id="rId7"/>
    <p:sldId id="333" r:id="rId8"/>
    <p:sldId id="329" r:id="rId9"/>
    <p:sldId id="334" r:id="rId10"/>
    <p:sldId id="335" r:id="rId11"/>
    <p:sldId id="336" r:id="rId12"/>
    <p:sldId id="337" r:id="rId13"/>
    <p:sldId id="338" r:id="rId14"/>
    <p:sldId id="330" r:id="rId15"/>
    <p:sldId id="332" r:id="rId16"/>
  </p:sldIdLst>
  <p:sldSz cx="13004800" cy="9753600"/>
  <p:notesSz cx="6858000" cy="9144000"/>
  <p:embeddedFont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1pPr>
    <a:lvl2pPr marL="0" marR="0" indent="2286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2pPr>
    <a:lvl3pPr marL="0" marR="0" indent="4572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3pPr>
    <a:lvl4pPr marL="0" marR="0" indent="6858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4pPr>
    <a:lvl5pPr marL="0" marR="0" indent="9144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5pPr>
    <a:lvl6pPr marL="0" marR="0" indent="11430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6pPr>
    <a:lvl7pPr marL="0" marR="0" indent="13716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7pPr>
    <a:lvl8pPr marL="0" marR="0" indent="16002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8pPr>
    <a:lvl9pPr marL="0" marR="0" indent="182880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466C"/>
    <a:srgbClr val="23456C"/>
    <a:srgbClr val="EFCC47"/>
    <a:srgbClr val="C1D8B4"/>
    <a:srgbClr val="2445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33"/>
    <p:restoredTop sz="88425" autoAdjust="0"/>
  </p:normalViewPr>
  <p:slideViewPr>
    <p:cSldViewPr snapToGrid="0" snapToObjects="1">
      <p:cViewPr varScale="1">
        <p:scale>
          <a:sx n="78" d="100"/>
          <a:sy n="78" d="100"/>
        </p:scale>
        <p:origin x="2168" y="19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8" d="100"/>
          <a:sy n="68" d="100"/>
        </p:scale>
        <p:origin x="2592"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p:txBody>
      </p:sp>
      <p:sp>
        <p:nvSpPr>
          <p:cNvPr id="117" name="Shape 117"/>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1pPr>
    <a:lvl2pPr indent="2286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2pPr>
    <a:lvl3pPr indent="4572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3pPr>
    <a:lvl4pPr indent="6858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4pPr>
    <a:lvl5pPr indent="9144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5pPr>
    <a:lvl6pPr indent="11430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6pPr>
    <a:lvl7pPr indent="13716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7pPr>
    <a:lvl8pPr indent="16002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8pPr>
    <a:lvl9pPr indent="18288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与副标题">
    <p:spTree>
      <p:nvGrpSpPr>
        <p:cNvPr id="1" name=""/>
        <p:cNvGrpSpPr/>
        <p:nvPr/>
      </p:nvGrpSpPr>
      <p:grpSpPr>
        <a:xfrm>
          <a:off x="0" y="0"/>
          <a:ext cx="0" cy="0"/>
          <a:chOff x="0" y="0"/>
          <a:chExt cx="0" cy="0"/>
        </a:xfrm>
      </p:grpSpPr>
      <p:sp>
        <p:nvSpPr>
          <p:cNvPr id="11" name="Title Text"/>
          <p:cNvSpPr txBox="1">
            <a:spLocks noGrp="1"/>
          </p:cNvSpPr>
          <p:nvPr>
            <p:ph type="title" hasCustomPrompt="1"/>
          </p:nvPr>
        </p:nvSpPr>
        <p:spPr>
          <a:xfrm>
            <a:off x="1270000" y="1638300"/>
            <a:ext cx="10464800" cy="3302000"/>
          </a:xfrm>
          <a:prstGeom prst="rect">
            <a:avLst/>
          </a:prstGeom>
        </p:spPr>
        <p:txBody>
          <a:bodyPr anchor="b"/>
          <a:lstStyle>
            <a:lvl1pPr>
              <a:defRPr>
                <a:latin typeface="Calibri" panose="020F0502020204030204" pitchFamily="34" charset="0"/>
                <a:cs typeface="Calibri" panose="020F0502020204030204" pitchFamily="34" charset="0"/>
              </a:defRPr>
            </a:lvl1pPr>
          </a:lstStyle>
          <a:p>
            <a:r>
              <a:t>Title Text</a:t>
            </a:r>
          </a:p>
        </p:txBody>
      </p:sp>
      <p:sp>
        <p:nvSpPr>
          <p:cNvPr id="12" name="Body Level One…"/>
          <p:cNvSpPr txBox="1">
            <a:spLocks noGrp="1"/>
          </p:cNvSpPr>
          <p:nvPr>
            <p:ph type="body" sz="quarter" idx="1" hasCustomPrompt="1"/>
          </p:nvPr>
        </p:nvSpPr>
        <p:spPr>
          <a:xfrm>
            <a:off x="1270000" y="5041900"/>
            <a:ext cx="10464800" cy="1130300"/>
          </a:xfrm>
          <a:prstGeom prst="rect">
            <a:avLst/>
          </a:prstGeom>
        </p:spPr>
        <p:txBody>
          <a:bodyPr anchor="t"/>
          <a:lstStyle>
            <a:lvl1pPr marL="0" indent="0" algn="ctr">
              <a:spcBef>
                <a:spcPts val="0"/>
              </a:spcBef>
              <a:buSzTx/>
              <a:buNone/>
              <a:defRPr sz="3700">
                <a:solidFill>
                  <a:srgbClr val="000000"/>
                </a:solidFill>
                <a:latin typeface="Calibri" panose="020F0502020204030204" pitchFamily="34" charset="0"/>
                <a:cs typeface="Calibri" panose="020F0502020204030204" pitchFamily="34" charset="0"/>
              </a:defRPr>
            </a:lvl1pPr>
            <a:lvl2pPr marL="0" indent="0" algn="ctr">
              <a:spcBef>
                <a:spcPts val="0"/>
              </a:spcBef>
              <a:buSzTx/>
              <a:buNone/>
              <a:defRPr sz="3700">
                <a:solidFill>
                  <a:srgbClr val="000000"/>
                </a:solidFill>
                <a:latin typeface="Calibri" panose="020F0502020204030204" pitchFamily="34" charset="0"/>
                <a:cs typeface="Calibri" panose="020F0502020204030204" pitchFamily="34" charset="0"/>
              </a:defRPr>
            </a:lvl2pPr>
            <a:lvl3pPr marL="0" indent="0" algn="ctr">
              <a:spcBef>
                <a:spcPts val="0"/>
              </a:spcBef>
              <a:buSzTx/>
              <a:buNone/>
              <a:defRPr sz="3700">
                <a:solidFill>
                  <a:srgbClr val="000000"/>
                </a:solidFill>
                <a:latin typeface="Calibri" panose="020F0502020204030204" pitchFamily="34" charset="0"/>
                <a:cs typeface="Calibri" panose="020F0502020204030204" pitchFamily="34" charset="0"/>
              </a:defRPr>
            </a:lvl3pPr>
            <a:lvl4pPr marL="0" indent="0" algn="ctr">
              <a:spcBef>
                <a:spcPts val="0"/>
              </a:spcBef>
              <a:buSzTx/>
              <a:buNone/>
              <a:defRPr sz="3700">
                <a:solidFill>
                  <a:srgbClr val="000000"/>
                </a:solidFill>
                <a:latin typeface="Calibri" panose="020F0502020204030204" pitchFamily="34" charset="0"/>
                <a:cs typeface="Calibri" panose="020F0502020204030204" pitchFamily="34" charset="0"/>
              </a:defRPr>
            </a:lvl4pPr>
            <a:lvl5pPr marL="0" indent="0" algn="ctr">
              <a:spcBef>
                <a:spcPts val="0"/>
              </a:spcBef>
              <a:buSzTx/>
              <a:buNone/>
              <a:defRPr sz="3700">
                <a:solidFill>
                  <a:srgbClr val="000000"/>
                </a:solidFill>
                <a:latin typeface="Calibri" panose="020F0502020204030204" pitchFamily="34" charset="0"/>
                <a:cs typeface="Calibri" panose="020F0502020204030204" pitchFamily="34" charset="0"/>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lvl1pPr>
              <a:defRPr>
                <a:latin typeface="Calibri" panose="020F0502020204030204" pitchFamily="34" charset="0"/>
                <a:ea typeface="Calibri" panose="020F0502020204030204" pitchFamily="34" charset="0"/>
                <a:cs typeface="Calibri" panose="020F0502020204030204" pitchFamily="34" charset="0"/>
                <a:sym typeface="Helvetica Neue Thin" panose="02000503000000020004"/>
              </a:defRPr>
            </a:lvl1pPr>
          </a:lstStyle>
          <a:p>
            <a:fld id="{86CB4B4D-7CA3-9044-876B-883B54F8677D}" type="slidenum">
              <a:rPr lang="en-US" smtClean="0"/>
            </a:fld>
            <a:endParaRPr lang="en-US"/>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Title Text"/>
          <p:cNvSpPr txBox="1">
            <a:spLocks noGrp="1"/>
          </p:cNvSpPr>
          <p:nvPr>
            <p:ph type="title" hasCustomPrompt="1"/>
          </p:nvPr>
        </p:nvSpPr>
        <p:spPr>
          <a:xfrm>
            <a:off x="-9087" y="-2272"/>
            <a:ext cx="13022974" cy="1143001"/>
          </a:xfrm>
          <a:prstGeom prst="rect">
            <a:avLst/>
          </a:prstGeom>
          <a:solidFill>
            <a:srgbClr val="24456C"/>
          </a:solidFill>
        </p:spPr>
        <p:txBody>
          <a:bodyPr/>
          <a:lstStyle>
            <a:lvl1pPr indent="127000" algn="l">
              <a:lnSpc>
                <a:spcPct val="10000"/>
              </a:lnSpc>
              <a:defRPr sz="5000">
                <a:solidFill>
                  <a:srgbClr val="C1D8B4"/>
                </a:solidFill>
                <a:latin typeface="Calibri" panose="020F0502020204030204" pitchFamily="34" charset="0"/>
                <a:cs typeface="Calibri" panose="020F0502020204030204" pitchFamily="34" charset="0"/>
              </a:defRPr>
            </a:lvl1pPr>
          </a:lstStyle>
          <a:p>
            <a:r>
              <a:t>Title Text</a:t>
            </a:r>
          </a:p>
        </p:txBody>
      </p:sp>
      <p:sp>
        <p:nvSpPr>
          <p:cNvPr id="57" name="Body Level One…"/>
          <p:cNvSpPr txBox="1">
            <a:spLocks noGrp="1"/>
          </p:cNvSpPr>
          <p:nvPr>
            <p:ph type="body" idx="1" hasCustomPrompt="1"/>
          </p:nvPr>
        </p:nvSpPr>
        <p:spPr>
          <a:xfrm>
            <a:off x="554618" y="1408564"/>
            <a:ext cx="11895564" cy="7620001"/>
          </a:xfrm>
          <a:prstGeom prst="rect">
            <a:avLst/>
          </a:prstGeom>
        </p:spPr>
        <p:txBody>
          <a:bodyPr/>
          <a:lstStyle>
            <a:lvl1pPr marL="381000" indent="-381000">
              <a:buSzPct val="100000"/>
              <a:defRPr sz="3200" b="1">
                <a:latin typeface="Calibri" panose="020F0502020204030204" pitchFamily="34" charset="0"/>
                <a:cs typeface="Calibri" panose="020F0502020204030204" pitchFamily="34" charset="0"/>
              </a:defRPr>
            </a:lvl1pPr>
            <a:lvl2pPr marL="889000" indent="-444500">
              <a:buSzPct val="100000"/>
              <a:defRPr>
                <a:latin typeface="Calibri" panose="020F0502020204030204" pitchFamily="34" charset="0"/>
                <a:cs typeface="Calibri" panose="020F0502020204030204" pitchFamily="34" charset="0"/>
              </a:defRPr>
            </a:lvl2pPr>
            <a:lvl3pPr marL="1333500" indent="-444500">
              <a:spcBef>
                <a:spcPts val="300"/>
              </a:spcBef>
              <a:buSzPct val="100000"/>
              <a:defRPr sz="2500">
                <a:latin typeface="Calibri" panose="020F0502020204030204" pitchFamily="34" charset="0"/>
                <a:cs typeface="Calibri" panose="020F0502020204030204" pitchFamily="34" charset="0"/>
              </a:defRPr>
            </a:lvl3pPr>
            <a:lvl4pPr marL="1778000" indent="-444500">
              <a:spcBef>
                <a:spcPts val="200"/>
              </a:spcBef>
              <a:buSzPct val="100000"/>
              <a:defRPr sz="2500">
                <a:latin typeface="Calibri" panose="020F0502020204030204" pitchFamily="34" charset="0"/>
                <a:cs typeface="Calibri" panose="020F0502020204030204" pitchFamily="34" charset="0"/>
              </a:defRPr>
            </a:lvl4pPr>
            <a:lvl5pPr marL="2222500" indent="-444500">
              <a:spcBef>
                <a:spcPts val="100"/>
              </a:spcBef>
              <a:buSzPct val="100000"/>
              <a:defRPr sz="2500">
                <a:latin typeface="Calibri" panose="020F0502020204030204" pitchFamily="34" charset="0"/>
                <a:cs typeface="Calibri" panose="020F0502020204030204" pitchFamily="34" charset="0"/>
              </a:defRPr>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52500" y="254000"/>
            <a:ext cx="11099800" cy="2159000"/>
          </a:xfrm>
          <a:prstGeom prst="rect">
            <a:avLst/>
          </a:prstGeom>
          <a:ln w="12700">
            <a:miter lim="400000"/>
          </a:ln>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952500" y="2590800"/>
            <a:ext cx="11099800" cy="6286500"/>
          </a:xfrm>
          <a:prstGeom prst="rect">
            <a:avLst/>
          </a:prstGeom>
          <a:ln w="12700">
            <a:miter lim="400000"/>
          </a:ln>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327492" y="9296400"/>
            <a:ext cx="343043" cy="348813"/>
          </a:xfrm>
          <a:prstGeom prst="rect">
            <a:avLst/>
          </a:prstGeom>
          <a:ln w="12700">
            <a:miter lim="400000"/>
          </a:ln>
        </p:spPr>
        <p:txBody>
          <a:bodyPr wrap="none" lIns="50800" tIns="50800" rIns="50800" bIns="50800">
            <a:spAutoFit/>
          </a:bodyPr>
          <a:lstStyle>
            <a:lvl1pPr>
              <a:defRPr sz="1600" b="0">
                <a:latin typeface="Calibri" panose="020F0502020204030204" pitchFamily="34" charset="0"/>
                <a:ea typeface="Calibri" panose="020F0502020204030204" pitchFamily="34" charset="0"/>
                <a:cs typeface="Calibri" panose="020F0502020204030204" pitchFamily="34" charset="0"/>
                <a:sym typeface="Helvetica Neue Light" panose="02000503000000020004"/>
              </a:defRPr>
            </a:lvl1pPr>
          </a:lstStyle>
          <a:p>
            <a:fld id="{86CB4B4D-7CA3-9044-876B-883B54F8677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Calibri" panose="020F0502020204030204" pitchFamily="34" charset="0"/>
          <a:ea typeface="+mn-ea"/>
          <a:cs typeface="Calibri" panose="020F0502020204030204" pitchFamily="34" charset="0"/>
          <a:sym typeface="Helvetica Neue Medium" panose="02000503000000020004"/>
        </a:defRPr>
      </a:lvl1pPr>
      <a:lvl2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2pPr>
      <a:lvl3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3pPr>
      <a:lvl4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4pPr>
      <a:lvl5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5pPr>
      <a:lvl6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6pPr>
      <a:lvl7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7pPr>
      <a:lvl8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8pPr>
      <a:lvl9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lvetica Neue Medium" panose="02000503000000020004"/>
        </a:defRPr>
      </a:lvl9pPr>
    </p:titleStyle>
    <p:bodyStyle>
      <a:lvl1pPr marL="416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1pPr>
      <a:lvl2pPr marL="861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2pPr>
      <a:lvl3pPr marL="1305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3pPr>
      <a:lvl4pPr marL="1750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4pPr>
      <a:lvl5pPr marL="2194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5pPr>
      <a:lvl6pPr marL="2639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6pPr>
      <a:lvl7pPr marL="3083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7pPr>
      <a:lvl8pPr marL="3528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8pPr>
      <a:lvl9pPr marL="3972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9pPr>
    </p:bodyStyle>
    <p:otherStyle>
      <a:lvl1pPr marL="0" marR="0" indent="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1pPr>
      <a:lvl2pPr marL="0" marR="0" indent="2286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2pPr>
      <a:lvl3pPr marL="0" marR="0" indent="4572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3pPr>
      <a:lvl4pPr marL="0" marR="0" indent="6858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4pPr>
      <a:lvl5pPr marL="0" marR="0" indent="9144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5pPr>
      <a:lvl6pPr marL="0" marR="0" indent="11430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6pPr>
      <a:lvl7pPr marL="0" marR="0" indent="13716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7pPr>
      <a:lvl8pPr marL="0" marR="0" indent="16002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8pPr>
      <a:lvl9pPr marL="0" marR="0" indent="18288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lvetica Neue Light" panose="020005030000000200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tif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Deep Speaker Embeddings…"/>
          <p:cNvSpPr txBox="1">
            <a:spLocks noGrp="1"/>
          </p:cNvSpPr>
          <p:nvPr>
            <p:ph type="ctrTitle"/>
          </p:nvPr>
        </p:nvSpPr>
        <p:spPr>
          <a:xfrm>
            <a:off x="-16975" y="1964126"/>
            <a:ext cx="13038750" cy="2659224"/>
          </a:xfrm>
          <a:prstGeom prst="rect">
            <a:avLst/>
          </a:prstGeom>
          <a:solidFill>
            <a:srgbClr val="19456F"/>
          </a:solidFill>
        </p:spPr>
        <p:txBody>
          <a:bodyPr anchor="ctr">
            <a:normAutofit/>
          </a:bodyPr>
          <a:lstStyle/>
          <a:p>
            <a:pPr>
              <a:defRPr sz="4200">
                <a:solidFill>
                  <a:srgbClr val="C1D8B4"/>
                </a:solidFill>
              </a:defRPr>
            </a:pPr>
            <a:r>
              <a:rPr lang="en-US" sz="7200" dirty="0">
                <a:solidFill>
                  <a:schemeClr val="bg1">
                    <a:lumMod val="95000"/>
                  </a:schemeClr>
                </a:solidFill>
                <a:latin typeface="Calibri" panose="020F0502020204030204" pitchFamily="34" charset="0"/>
                <a:cs typeface="Calibri" panose="020F0502020204030204" pitchFamily="34" charset="0"/>
              </a:rPr>
              <a:t>What Makes</a:t>
            </a:r>
            <a:br>
              <a:rPr lang="en-US" sz="7200" dirty="0">
                <a:solidFill>
                  <a:schemeClr val="bg1">
                    <a:lumMod val="95000"/>
                  </a:schemeClr>
                </a:solidFill>
                <a:latin typeface="Calibri" panose="020F0502020204030204" pitchFamily="34" charset="0"/>
                <a:cs typeface="Calibri" panose="020F0502020204030204" pitchFamily="34" charset="0"/>
              </a:rPr>
            </a:br>
            <a:r>
              <a:rPr lang="en-US" sz="7200" dirty="0">
                <a:solidFill>
                  <a:schemeClr val="bg1">
                    <a:lumMod val="95000"/>
                  </a:schemeClr>
                </a:solidFill>
                <a:latin typeface="Calibri" panose="020F0502020204030204" pitchFamily="34" charset="0"/>
                <a:cs typeface="Calibri" panose="020F0502020204030204" pitchFamily="34" charset="0"/>
              </a:rPr>
              <a:t>People Laugh?</a:t>
            </a:r>
            <a:endParaRPr sz="7200" dirty="0">
              <a:solidFill>
                <a:schemeClr val="bg1">
                  <a:lumMod val="95000"/>
                </a:schemeClr>
              </a:solidFill>
              <a:latin typeface="Calibri" panose="020F0502020204030204" pitchFamily="34" charset="0"/>
              <a:cs typeface="Calibri" panose="020F0502020204030204" pitchFamily="34" charset="0"/>
            </a:endParaRPr>
          </a:p>
        </p:txBody>
      </p:sp>
      <p:sp>
        <p:nvSpPr>
          <p:cNvPr id="120" name="Danwei Cai, Zexin Cai and Ming Li…"/>
          <p:cNvSpPr txBox="1">
            <a:spLocks noGrp="1"/>
          </p:cNvSpPr>
          <p:nvPr>
            <p:ph type="subTitle" sz="quarter" idx="1"/>
          </p:nvPr>
        </p:nvSpPr>
        <p:spPr>
          <a:xfrm>
            <a:off x="372745" y="5130165"/>
            <a:ext cx="12252960" cy="2066925"/>
          </a:xfrm>
          <a:prstGeom prst="rect">
            <a:avLst/>
          </a:prstGeom>
        </p:spPr>
        <p:txBody>
          <a:bodyPr>
            <a:normAutofit/>
          </a:bodyPr>
          <a:lstStyle/>
          <a:p>
            <a:pPr>
              <a:defRPr sz="2500">
                <a:solidFill>
                  <a:srgbClr val="24456C"/>
                </a:solidFill>
              </a:defRPr>
            </a:pPr>
            <a:endParaRPr lang="en-US" sz="2000" dirty="0"/>
          </a:p>
          <a:p>
            <a:pPr>
              <a:defRPr sz="2500">
                <a:solidFill>
                  <a:srgbClr val="24456C"/>
                </a:solidFill>
              </a:defRPr>
            </a:pPr>
            <a:r>
              <a:rPr lang="en-US" sz="2800" dirty="0"/>
              <a:t>Zihan Zhang </a:t>
            </a:r>
            <a:endParaRPr lang="en-US" sz="2800" dirty="0"/>
          </a:p>
          <a:p>
            <a:pPr>
              <a:defRPr sz="2500">
                <a:solidFill>
                  <a:srgbClr val="24456C"/>
                </a:solidFill>
              </a:defRPr>
            </a:pPr>
            <a:r>
              <a:rPr lang="en-US" sz="2800" dirty="0"/>
              <a:t>(</a:t>
            </a:r>
            <a:r>
              <a:rPr lang="en-US" altLang="en-US" sz="2800" dirty="0"/>
              <a:t>zihan.zhang3@dukekunshan.edu.cn</a:t>
            </a:r>
            <a:r>
              <a:rPr lang="en-US" sz="2800" dirty="0"/>
              <a:t>)</a:t>
            </a:r>
            <a:endParaRPr lang="en-US" sz="2800" dirty="0"/>
          </a:p>
          <a:p>
            <a:pPr>
              <a:defRPr sz="2500">
                <a:solidFill>
                  <a:srgbClr val="24456C"/>
                </a:solidFill>
              </a:defRPr>
            </a:pPr>
            <a:endParaRPr lang="en-US" altLang="en-US" sz="2800" dirty="0">
              <a:sym typeface="+mn-ea"/>
            </a:endParaRPr>
          </a:p>
          <a:p>
            <a:pPr>
              <a:defRPr sz="2500">
                <a:solidFill>
                  <a:srgbClr val="24456C"/>
                </a:solidFill>
              </a:defRPr>
            </a:pPr>
            <a:endParaRPr lang="en-US" altLang="en-US" sz="2800" dirty="0">
              <a:latin typeface="Calibri" panose="020F0502020204030204" pitchFamily="34" charset="0"/>
              <a:cs typeface="Calibri" panose="020F0502020204030204" pitchFamily="34" charset="0"/>
            </a:endParaRPr>
          </a:p>
        </p:txBody>
      </p:sp>
      <p:sp>
        <p:nvSpPr>
          <p:cNvPr id="121" name="Slide Number"/>
          <p:cNvSpPr txBox="1">
            <a:spLocks noGrp="1"/>
          </p:cNvSpPr>
          <p:nvPr>
            <p:ph type="sldNum" sz="quarter" idx="4294967295"/>
          </p:nvPr>
        </p:nvSpPr>
        <p:spPr>
          <a:xfrm>
            <a:off x="6395619" y="9296400"/>
            <a:ext cx="206788" cy="348813"/>
          </a:xfrm>
          <a:prstGeom prst="rect">
            <a:avLst/>
          </a:prstGeom>
        </p:spPr>
        <p:txBody>
          <a:bodyPr/>
          <a:lstStyle>
            <a:lvl1pPr>
              <a:defRPr>
                <a:latin typeface="Helvetica Neue Thin" panose="02000503000000020004"/>
                <a:ea typeface="Helvetica Neue Thin" panose="02000503000000020004"/>
                <a:cs typeface="Helvetica Neue Thin" panose="02000503000000020004"/>
                <a:sym typeface="Helvetica Neue Thin" panose="02000503000000020004"/>
              </a:defRPr>
            </a:lvl1pPr>
          </a:lstStyle>
          <a:p>
            <a:fld id="{86CB4B4D-7CA3-9044-876B-883B54F8677D}" type="slidenum">
              <a:rPr smtClean="0">
                <a:latin typeface="Calibri" panose="020F0502020204030204" pitchFamily="34" charset="0"/>
                <a:cs typeface="Calibri" panose="020F0502020204030204" pitchFamily="34" charset="0"/>
              </a:rPr>
            </a:fld>
            <a:endParaRPr dirty="0">
              <a:latin typeface="Calibri" panose="020F0502020204030204" pitchFamily="34" charset="0"/>
              <a:cs typeface="Calibri" panose="020F0502020204030204" pitchFamily="34" charset="0"/>
            </a:endParaRPr>
          </a:p>
        </p:txBody>
      </p:sp>
      <p:pic>
        <p:nvPicPr>
          <p:cNvPr id="122" name="Image" descr="Image"/>
          <p:cNvPicPr>
            <a:picLocks noChangeAspect="1"/>
          </p:cNvPicPr>
          <p:nvPr/>
        </p:nvPicPr>
        <p:blipFill>
          <a:blip r:embed="rId1" cstate="hqprint"/>
          <a:stretch>
            <a:fillRect/>
          </a:stretch>
        </p:blipFill>
        <p:spPr>
          <a:xfrm>
            <a:off x="4627442" y="7317386"/>
            <a:ext cx="3743141" cy="1597025"/>
          </a:xfrm>
          <a:prstGeom prst="rect">
            <a:avLst/>
          </a:prstGeom>
          <a:ln w="12700">
            <a:miter lim="400000"/>
            <a:headEnd/>
            <a:tailEnd/>
          </a:ln>
        </p:spPr>
      </p:pic>
      <p:cxnSp>
        <p:nvCxnSpPr>
          <p:cNvPr id="10" name="直线连接符 9"/>
          <p:cNvCxnSpPr/>
          <p:nvPr/>
        </p:nvCxnSpPr>
        <p:spPr>
          <a:xfrm>
            <a:off x="2259106" y="8719948"/>
            <a:ext cx="8793351" cy="0"/>
          </a:xfrm>
          <a:prstGeom prst="line">
            <a:avLst/>
          </a:prstGeom>
          <a:noFill/>
          <a:ln w="25400" cap="flat">
            <a:solidFill>
              <a:srgbClr val="21466C"/>
            </a:solidFill>
            <a:prstDash val="solid"/>
            <a:miter lim="400000"/>
          </a:ln>
          <a:effectLst/>
          <a:sp3d/>
        </p:spPr>
        <p:style>
          <a:lnRef idx="0">
            <a:scrgbClr r="0" g="0" b="0"/>
          </a:lnRef>
          <a:fillRef idx="0">
            <a:scrgbClr r="0" g="0" b="0"/>
          </a:fillRef>
          <a:effectRef idx="0">
            <a:scrgbClr r="0" g="0" b="0"/>
          </a:effectRef>
          <a:fontRef idx="none"/>
        </p:style>
      </p:cxn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Introduction"/>
          <p:cNvSpPr txBox="1">
            <a:spLocks noGrp="1"/>
          </p:cNvSpPr>
          <p:nvPr>
            <p:ph type="title"/>
          </p:nvPr>
        </p:nvSpPr>
        <p:spPr>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chemeClr val="bg1">
                    <a:lumMod val="95000"/>
                  </a:schemeClr>
                </a:solidFill>
                <a:latin typeface="Calibri" panose="020F0502020204030204" pitchFamily="34" charset="0"/>
                <a:cs typeface="Calibri" panose="020F0502020204030204" pitchFamily="34" charset="0"/>
              </a:rPr>
              <a:t>Problem Description</a:t>
            </a:r>
            <a:endParaRPr dirty="0">
              <a:solidFill>
                <a:schemeClr val="bg1">
                  <a:lumMod val="95000"/>
                </a:schemeClr>
              </a:solidFill>
              <a:latin typeface="Calibri" panose="020F0502020204030204" pitchFamily="34" charset="0"/>
              <a:cs typeface="Calibri" panose="020F0502020204030204" pitchFamily="34" charset="0"/>
            </a:endParaRPr>
          </a:p>
        </p:txBody>
      </p:sp>
      <p:sp>
        <p:nvSpPr>
          <p:cNvPr id="136" name="Slide Number"/>
          <p:cNvSpPr txBox="1">
            <a:spLocks noGrp="1"/>
          </p:cNvSpPr>
          <p:nvPr>
            <p:ph type="sldNum" sz="quarter" idx="2"/>
          </p:nvPr>
        </p:nvSpPr>
        <p:spPr>
          <a:xfrm>
            <a:off x="6395619" y="9296400"/>
            <a:ext cx="206788" cy="348813"/>
          </a:xfrm>
          <a:prstGeom prst="rect">
            <a:avLst/>
          </a:prstGeom>
        </p:spPr>
        <p:txBody>
          <a:bodyPr/>
          <a:lstStyle/>
          <a:p>
            <a:fld id="{86CB4B4D-7CA3-9044-876B-883B54F8677D}" type="slidenum">
              <a:rPr smtClean="0">
                <a:latin typeface="Calibri" panose="020F0502020204030204" pitchFamily="34" charset="0"/>
                <a:cs typeface="Calibri" panose="020F0502020204030204" pitchFamily="34" charset="0"/>
              </a:rPr>
            </a:fld>
            <a:endParaRPr dirty="0">
              <a:latin typeface="Calibri" panose="020F0502020204030204" pitchFamily="34" charset="0"/>
              <a:cs typeface="Calibri" panose="020F0502020204030204" pitchFamily="34" charset="0"/>
            </a:endParaRPr>
          </a:p>
        </p:txBody>
      </p:sp>
      <p:pic>
        <p:nvPicPr>
          <p:cNvPr id="137"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9" name="Speech signals:…"/>
          <p:cNvSpPr txBox="1">
            <a:spLocks noGrp="1"/>
          </p:cNvSpPr>
          <p:nvPr>
            <p:ph type="body" idx="1"/>
          </p:nvPr>
        </p:nvSpPr>
        <p:spPr>
          <a:xfrm>
            <a:off x="554038" y="1408113"/>
            <a:ext cx="11896725" cy="7620000"/>
          </a:xfrm>
          <a:prstGeom prst="rect">
            <a:avLst/>
          </a:prstGeom>
        </p:spPr>
        <p:txBody>
          <a:bodyPr>
            <a:normAutofit fontScale="90000"/>
          </a:bodyPr>
          <a:lstStyle/>
          <a:p>
            <a:pPr marL="0" indent="0">
              <a:buNone/>
            </a:pPr>
            <a:endParaRPr lang="en-US" sz="2800" b="0" dirty="0"/>
          </a:p>
          <a:p>
            <a:r>
              <a:rPr lang="en-US" dirty="0">
                <a:solidFill>
                  <a:schemeClr val="tx1"/>
                </a:solidFill>
              </a:rPr>
              <a:t>Problem description</a:t>
            </a:r>
            <a:endParaRPr lang="en-US" dirty="0">
              <a:solidFill>
                <a:schemeClr val="tx1"/>
              </a:solidFill>
            </a:endParaRPr>
          </a:p>
          <a:p>
            <a:pPr lvl="1"/>
            <a:r>
              <a:rPr lang="en-US" altLang="en-US" sz="2915" b="0" dirty="0">
                <a:solidFill>
                  <a:schemeClr val="tx1"/>
                </a:solidFill>
                <a:latin typeface="Calibri" panose="020F0502020204030204" pitchFamily="34" charset="0"/>
                <a:cs typeface="Calibri" panose="020F0502020204030204" pitchFamily="34" charset="0"/>
              </a:rPr>
              <a:t>In standing comedy, a performer delivers jokes to trigger laughter from the live audience. A successful joke is often evaluated by the audience’s laughter.</a:t>
            </a:r>
            <a:endParaRPr lang="en-US" altLang="en-US" sz="2915" b="0" dirty="0">
              <a:solidFill>
                <a:schemeClr val="tx1"/>
              </a:solidFill>
              <a:latin typeface="Calibri" panose="020F0502020204030204" pitchFamily="34" charset="0"/>
              <a:cs typeface="Calibri" panose="020F0502020204030204" pitchFamily="34" charset="0"/>
            </a:endParaRPr>
          </a:p>
          <a:p>
            <a:pPr lvl="1"/>
            <a:r>
              <a:rPr lang="en-US" altLang="en-US" sz="2915" b="0" dirty="0">
                <a:solidFill>
                  <a:schemeClr val="tx1"/>
                </a:solidFill>
                <a:latin typeface="Calibri" panose="020F0502020204030204" pitchFamily="34" charset="0"/>
                <a:cs typeface="Calibri" panose="020F0502020204030204" pitchFamily="34" charset="0"/>
              </a:rPr>
              <a:t>While humor research has extensively examined jokes in cultural, linguistic and social aspects, less attention has been given to the acoustic delivery of the speaker and its relationship with audience laughter responses. </a:t>
            </a:r>
            <a:endParaRPr lang="en-US" altLang="en-US" sz="2915" b="0" dirty="0">
              <a:solidFill>
                <a:schemeClr val="tx1"/>
              </a:solidFill>
              <a:latin typeface="Calibri" panose="020F0502020204030204" pitchFamily="34" charset="0"/>
              <a:cs typeface="Calibri" panose="020F0502020204030204" pitchFamily="34" charset="0"/>
            </a:endParaRPr>
          </a:p>
          <a:p>
            <a:pPr marL="0" indent="0" algn="ctr">
              <a:buNone/>
            </a:pPr>
            <a:r>
              <a:rPr lang="en-US" altLang="en-US" dirty="0">
                <a:solidFill>
                  <a:srgbClr val="C00000"/>
                </a:solidFill>
                <a:latin typeface="Calibri" panose="020F0502020204030204" pitchFamily="34" charset="0"/>
                <a:cs typeface="Calibri" panose="020F0502020204030204" pitchFamily="34" charset="0"/>
              </a:rPr>
              <a:t>Beyond what is said, how does the way saying influence laughter?</a:t>
            </a:r>
            <a:endParaRPr lang="en-US" altLang="en-US" b="0" dirty="0">
              <a:solidFill>
                <a:srgbClr val="C00000"/>
              </a:solidFill>
              <a:latin typeface="Calibri" panose="020F0502020204030204" pitchFamily="34" charset="0"/>
              <a:cs typeface="Calibri" panose="020F0502020204030204" pitchFamily="34" charset="0"/>
            </a:endParaRPr>
          </a:p>
          <a:p>
            <a:pPr lvl="1"/>
            <a:r>
              <a:rPr lang="en-US" altLang="en-US" sz="2915" b="0" dirty="0">
                <a:solidFill>
                  <a:schemeClr val="tx1"/>
                </a:solidFill>
                <a:latin typeface="Calibri" panose="020F0502020204030204" pitchFamily="34" charset="0"/>
                <a:cs typeface="Calibri" panose="020F0502020204030204" pitchFamily="34" charset="0"/>
              </a:rPr>
              <a:t>Psychological: emotion and humor delivery in communication </a:t>
            </a:r>
            <a:endParaRPr lang="en-US" altLang="en-US" sz="2915" b="0" dirty="0">
              <a:solidFill>
                <a:schemeClr val="tx1"/>
              </a:solidFill>
              <a:latin typeface="Calibri" panose="020F0502020204030204" pitchFamily="34" charset="0"/>
              <a:cs typeface="Calibri" panose="020F0502020204030204" pitchFamily="34" charset="0"/>
            </a:endParaRPr>
          </a:p>
          <a:p>
            <a:pPr lvl="1"/>
            <a:r>
              <a:rPr lang="en-US" altLang="en-US" sz="2915" b="0" dirty="0">
                <a:solidFill>
                  <a:schemeClr val="tx1"/>
                </a:solidFill>
                <a:latin typeface="Calibri" panose="020F0502020204030204" pitchFamily="34" charset="0"/>
                <a:cs typeface="Calibri" panose="020F0502020204030204" pitchFamily="34" charset="0"/>
              </a:rPr>
              <a:t>Practical: tailor vocal strategies to achieve expected laughter effect</a:t>
            </a:r>
            <a:endParaRPr lang="en-US" altLang="en-US" sz="2915" b="0" dirty="0">
              <a:solidFill>
                <a:schemeClr val="tx1"/>
              </a:solidFill>
              <a:latin typeface="Calibri" panose="020F0502020204030204" pitchFamily="34" charset="0"/>
              <a:cs typeface="Calibri" panose="020F0502020204030204" pitchFamily="34" charset="0"/>
            </a:endParaRPr>
          </a:p>
          <a:p>
            <a:r>
              <a:rPr lang="en-US" dirty="0">
                <a:solidFill>
                  <a:schemeClr val="tx1"/>
                </a:solidFill>
              </a:rPr>
              <a:t>The purpose for the project</a:t>
            </a:r>
            <a:endParaRPr lang="en-US" dirty="0">
              <a:solidFill>
                <a:schemeClr val="tx1"/>
              </a:solidFill>
            </a:endParaRPr>
          </a:p>
          <a:p>
            <a:pPr lvl="1"/>
            <a:r>
              <a:rPr lang="en-US" altLang="en-US" sz="2890" dirty="0">
                <a:solidFill>
                  <a:schemeClr val="tx1"/>
                </a:solidFill>
                <a:latin typeface="Calibri" panose="020F0502020204030204" pitchFamily="34" charset="0"/>
                <a:cs typeface="Calibri" panose="020F0502020204030204" pitchFamily="34" charset="0"/>
              </a:rPr>
              <a:t>Build a machine learning model that can detect laughter segments in standing comedy recordings using acoustic features</a:t>
            </a:r>
            <a:endParaRPr lang="en-US" altLang="en-US" sz="2890" dirty="0">
              <a:solidFill>
                <a:schemeClr val="tx1"/>
              </a:solidFill>
              <a:latin typeface="Calibri" panose="020F0502020204030204" pitchFamily="34" charset="0"/>
              <a:cs typeface="Calibri" panose="020F0502020204030204" pitchFamily="34" charset="0"/>
            </a:endParaRPr>
          </a:p>
          <a:p>
            <a:pPr lvl="1"/>
            <a:r>
              <a:rPr lang="en-US" altLang="en-US" sz="2890" dirty="0">
                <a:solidFill>
                  <a:schemeClr val="tx1"/>
                </a:solidFill>
                <a:latin typeface="Calibri" panose="020F0502020204030204" pitchFamily="34" charset="0"/>
                <a:cs typeface="Calibri" panose="020F0502020204030204" pitchFamily="34" charset="0"/>
              </a:rPr>
              <a:t>Study the relationship between acoustic features of speakers and audience laughter outcomes</a:t>
            </a:r>
            <a:endParaRPr lang="en-US" altLang="en-US" sz="2890" dirty="0">
              <a:solidFill>
                <a:schemeClr val="tx1"/>
              </a:solidFill>
              <a:latin typeface="Calibri" panose="020F0502020204030204" pitchFamily="34" charset="0"/>
              <a:cs typeface="Calibri" panose="020F050202020403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Data &amp; Preprocessing</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1027" name="Straight Connector 14"/>
          <p:cNvSpPr/>
          <p:nvPr/>
        </p:nvSpPr>
        <p:spPr>
          <a:xfrm>
            <a:off x="3962400" y="2516822"/>
            <a:ext cx="313055" cy="0"/>
          </a:xfrm>
          <a:prstGeom prst="line">
            <a:avLst/>
          </a:prstGeom>
          <a:ln w="19050" cap="flat" cmpd="sng">
            <a:solidFill>
              <a:srgbClr val="FFFFFF"/>
            </a:solidFill>
            <a:prstDash val="solid"/>
            <a:miter/>
            <a:headEnd type="none" w="med" len="med"/>
            <a:tailEnd type="none" w="med" len="med"/>
          </a:ln>
        </p:spPr>
      </p:sp>
      <p:sp>
        <p:nvSpPr>
          <p:cNvPr id="7" name="Text Box 6"/>
          <p:cNvSpPr txBox="1"/>
          <p:nvPr/>
        </p:nvSpPr>
        <p:spPr>
          <a:xfrm>
            <a:off x="480060" y="1630045"/>
            <a:ext cx="11896090" cy="80149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1. 244 standing comedy videos (converted into .wav format), 30 videos are randomly selected to build the model</a:t>
            </a: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 </a:t>
            </a: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2. For the f</a:t>
            </a:r>
            <a:r>
              <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irst minute of the selected recordings, manually label the start and end timestamps of laughter segments</a:t>
            </a: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3. Convert time-based labels into frame-level labels</a:t>
            </a: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(1) </a:t>
            </a:r>
            <a:r>
              <a:rPr kumimoji="0" lang="en-US" altLang="en-US" sz="2600" b="0" i="0" u="none" strike="noStrike" cap="none" spc="0" normalizeH="0" baseline="0">
                <a:ln>
                  <a:noFill/>
                </a:ln>
                <a:solidFill>
                  <a:srgbClr val="7030A0"/>
                </a:solidFill>
                <a:effectLst/>
                <a:uFillTx/>
                <a:latin typeface="Helvetica Neue" panose="02000503000000020004"/>
                <a:ea typeface="Helvetica Neue" panose="02000503000000020004"/>
                <a:cs typeface="Helvetica Neue" panose="02000503000000020004"/>
                <a:sym typeface="Helvetica Neue" panose="02000503000000020004"/>
              </a:rPr>
              <a:t>Formula: frame index=  (time × sr)/(hop length)</a:t>
            </a: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sr: sampling rate -- the number of samples per second</a:t>
            </a:r>
            <a:endParaRPr kumimoji="0" lang="en-US" altLang="en-US"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hop length = 512 (i.e., frames are spaced every 512 samples)</a:t>
            </a:r>
            <a:endParaRPr kumimoji="0" lang="en-US" altLang="en-US"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(2) </a:t>
            </a:r>
            <a:r>
              <a:rPr kumimoji="0" lang="en-US" altLang="en-US" sz="2600" b="0" i="0" u="none" strike="noStrike" cap="none" spc="0" normalizeH="0" baseline="0">
                <a:ln>
                  <a:noFill/>
                </a:ln>
                <a:solidFill>
                  <a:srgbClr val="7030A0"/>
                </a:solidFill>
                <a:effectLst/>
                <a:uFillTx/>
                <a:latin typeface="Helvetica Neue" panose="02000503000000020004"/>
                <a:ea typeface="Helvetica Neue" panose="02000503000000020004"/>
                <a:cs typeface="Helvetica Neue" panose="02000503000000020004"/>
                <a:sym typeface="Helvetica Neue" panose="02000503000000020004"/>
              </a:rPr>
              <a:t>Every frame is classified into 1 = laughter, 0 = non-laughter</a:t>
            </a: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rPr>
              <a:t>4. Parameters for modeling: RMS (loudness), ZCR (noisiness), Centroid (tone color), Delta RMS (stability of loudness), Delta Centroid (fluctuation of tone color), Flux (fluctuation of noisiness)--standardized</a:t>
            </a:r>
            <a:endParaRPr kumimoji="0" lang="en-US" altLang="en-US" sz="2600" b="0" i="0" u="none" strike="noStrike" cap="none" spc="0" normalizeH="0" baseline="0">
              <a:ln>
                <a:noFill/>
              </a:ln>
              <a:solidFill>
                <a:schemeClr val="tx1"/>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rgbClr val="00206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400" b="0" i="0" u="none" strike="noStrike" cap="none" spc="0" normalizeH="0" baseline="0">
                <a:ln>
                  <a:noFill/>
                </a:ln>
                <a:solidFill>
                  <a:srgbClr val="002060"/>
                </a:solidFill>
                <a:effectLst/>
                <a:uFillTx/>
                <a:latin typeface="Helvetica Neue" panose="02000503000000020004"/>
                <a:ea typeface="Helvetica Neue" panose="02000503000000020004"/>
                <a:cs typeface="Helvetica Neue" panose="02000503000000020004"/>
                <a:sym typeface="Helvetica Neue" panose="02000503000000020004"/>
              </a:rPr>
              <a:t> </a:t>
            </a:r>
            <a:endParaRPr kumimoji="0" lang="en-US" altLang="en-US" sz="2400" b="0" i="0" u="none" strike="noStrike" cap="none" spc="0" normalizeH="0" baseline="0">
              <a:ln>
                <a:noFill/>
              </a:ln>
              <a:solidFill>
                <a:srgbClr val="00206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pic>
        <p:nvPicPr>
          <p:cNvPr id="2" name="Picture 1"/>
          <p:cNvPicPr>
            <a:picLocks noChangeAspect="1"/>
          </p:cNvPicPr>
          <p:nvPr/>
        </p:nvPicPr>
        <p:blipFill>
          <a:blip r:embed="rId2"/>
          <a:stretch>
            <a:fillRect/>
          </a:stretch>
        </p:blipFill>
        <p:spPr>
          <a:xfrm>
            <a:off x="1127125" y="3413125"/>
            <a:ext cx="7628890" cy="801370"/>
          </a:xfrm>
          <a:prstGeom prst="rect">
            <a:avLst/>
          </a:prstGeom>
        </p:spPr>
      </p:pic>
      <p:pic>
        <p:nvPicPr>
          <p:cNvPr id="4" name="Picture 3" descr="Weixin Image_20260302150505_848_82"/>
          <p:cNvPicPr>
            <a:picLocks noChangeAspect="1"/>
          </p:cNvPicPr>
          <p:nvPr/>
        </p:nvPicPr>
        <p:blipFill>
          <a:blip r:embed="rId3"/>
          <a:stretch>
            <a:fillRect/>
          </a:stretch>
        </p:blipFill>
        <p:spPr>
          <a:xfrm>
            <a:off x="1127125" y="6487160"/>
            <a:ext cx="7106285" cy="1126490"/>
          </a:xfrm>
          <a:prstGeom prst="rect">
            <a:avLst/>
          </a:prstGeom>
        </p:spPr>
      </p:pic>
      <p:pic>
        <p:nvPicPr>
          <p:cNvPr id="3" name="Picture 2" descr="Screenshot 2026-03-03 at 16.47.27"/>
          <p:cNvPicPr>
            <a:picLocks noChangeAspect="1"/>
          </p:cNvPicPr>
          <p:nvPr/>
        </p:nvPicPr>
        <p:blipFill>
          <a:blip r:embed="rId4"/>
          <a:srcRect l="32598" t="30754" r="21138" b="10337"/>
          <a:stretch>
            <a:fillRect/>
          </a:stretch>
        </p:blipFill>
        <p:spPr>
          <a:xfrm>
            <a:off x="8945880" y="3035935"/>
            <a:ext cx="3895090" cy="3092450"/>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Method</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2" name="Text Box 1"/>
          <p:cNvSpPr txBox="1"/>
          <p:nvPr/>
        </p:nvSpPr>
        <p:spPr>
          <a:xfrm>
            <a:off x="532130" y="1295400"/>
            <a:ext cx="11917680" cy="32270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24 training, 6 testing</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Training:</a:t>
            </a: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 </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4 Classifiers: Logistic Regression, KNN, Decision Tree, Random Forest</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Hyperparameter Selection: </a:t>
            </a:r>
            <a:r>
              <a:rPr lang="en-US" sz="2600" b="0">
                <a:sym typeface="Helvetica Neue" panose="02000503000000020004"/>
              </a:rPr>
              <a:t>5-cross-validation, CV </a:t>
            </a: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ROC-AUC (class imbalance)</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Testing (Evaluation):</a:t>
            </a: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 Test AUC, F1-score</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graphicFrame>
        <p:nvGraphicFramePr>
          <p:cNvPr id="3" name="Table 2"/>
          <p:cNvGraphicFramePr/>
          <p:nvPr>
            <p:custDataLst>
              <p:tags r:id="rId2"/>
            </p:custDataLst>
          </p:nvPr>
        </p:nvGraphicFramePr>
        <p:xfrm>
          <a:off x="308610" y="4858385"/>
          <a:ext cx="12489180" cy="4102100"/>
        </p:xfrm>
        <a:graphic>
          <a:graphicData uri="http://schemas.openxmlformats.org/drawingml/2006/table">
            <a:tbl>
              <a:tblPr firstRow="1" bandRow="1">
                <a:tableStyleId>{5940675A-B579-460E-94D1-54222C63F5DA}</a:tableStyleId>
              </a:tblPr>
              <a:tblGrid>
                <a:gridCol w="2932430"/>
                <a:gridCol w="2259965"/>
                <a:gridCol w="1586230"/>
                <a:gridCol w="1547495"/>
                <a:gridCol w="2081530"/>
                <a:gridCol w="2081530"/>
              </a:tblGrid>
              <a:tr h="820420">
                <a:tc>
                  <a:txBody>
                    <a:bodyPr/>
                    <a:p>
                      <a:pPr>
                        <a:buNone/>
                      </a:pPr>
                      <a:r>
                        <a:rPr lang="en-US" sz="2000"/>
                        <a:t>Models / Performance</a:t>
                      </a:r>
                      <a:endParaRPr lang="en-US" sz="2000"/>
                    </a:p>
                  </a:txBody>
                  <a:tcPr/>
                </a:tc>
                <a:tc>
                  <a:txBody>
                    <a:bodyPr/>
                    <a:p>
                      <a:pPr>
                        <a:buNone/>
                      </a:pPr>
                      <a:r>
                        <a:rPr lang="en-US" sz="2000"/>
                        <a:t>CV AUC</a:t>
                      </a:r>
                      <a:endParaRPr lang="en-US" sz="2000"/>
                    </a:p>
                  </a:txBody>
                  <a:tcPr/>
                </a:tc>
                <a:tc>
                  <a:txBody>
                    <a:bodyPr/>
                    <a:p>
                      <a:pPr>
                        <a:buNone/>
                      </a:pPr>
                      <a:r>
                        <a:rPr lang="en-US" sz="2000"/>
                        <a:t>Test AUC</a:t>
                      </a:r>
                      <a:endParaRPr lang="en-US" sz="2000"/>
                    </a:p>
                  </a:txBody>
                  <a:tcPr/>
                </a:tc>
                <a:tc>
                  <a:txBody>
                    <a:bodyPr/>
                    <a:p>
                      <a:pPr>
                        <a:buNone/>
                      </a:pPr>
                      <a:r>
                        <a:rPr lang="en-US" sz="2000"/>
                        <a:t>F1-score</a:t>
                      </a:r>
                      <a:endParaRPr lang="en-US" sz="2000"/>
                    </a:p>
                  </a:txBody>
                  <a:tcPr/>
                </a:tc>
                <a:tc>
                  <a:txBody>
                    <a:bodyPr/>
                    <a:p>
                      <a:pPr>
                        <a:buNone/>
                      </a:pPr>
                      <a:r>
                        <a:rPr lang="en-US" sz="2000"/>
                        <a:t>Precision</a:t>
                      </a:r>
                      <a:endParaRPr lang="en-US" sz="2000"/>
                    </a:p>
                  </a:txBody>
                  <a:tcPr/>
                </a:tc>
                <a:tc>
                  <a:txBody>
                    <a:bodyPr/>
                    <a:p>
                      <a:pPr>
                        <a:buNone/>
                      </a:pPr>
                      <a:r>
                        <a:rPr lang="en-US" sz="2000"/>
                        <a:t>Recall</a:t>
                      </a:r>
                      <a:endParaRPr lang="en-US" sz="2000"/>
                    </a:p>
                  </a:txBody>
                  <a:tcPr/>
                </a:tc>
              </a:tr>
              <a:tr h="820420">
                <a:tc>
                  <a:txBody>
                    <a:bodyPr/>
                    <a:p>
                      <a:pPr>
                        <a:buNone/>
                      </a:pPr>
                      <a:r>
                        <a:rPr lang="en-US" sz="2000"/>
                        <a:t>Logistic Regression</a:t>
                      </a:r>
                      <a:endParaRPr lang="en-US" sz="2000"/>
                    </a:p>
                    <a:p>
                      <a:pPr>
                        <a:buNone/>
                      </a:pPr>
                      <a:r>
                        <a:rPr lang="en-US" sz="2000"/>
                        <a:t>(‘C’: 46.42)</a:t>
                      </a:r>
                      <a:endParaRPr lang="en-US" sz="2000"/>
                    </a:p>
                  </a:txBody>
                  <a:tcPr/>
                </a:tc>
                <a:tc>
                  <a:txBody>
                    <a:bodyPr/>
                    <a:p>
                      <a:pPr>
                        <a:buNone/>
                      </a:pPr>
                      <a:r>
                        <a:rPr lang="en-US" sz="2000"/>
                        <a:t>0.6386</a:t>
                      </a:r>
                      <a:endParaRPr lang="en-US" sz="2000"/>
                    </a:p>
                  </a:txBody>
                  <a:tcPr/>
                </a:tc>
                <a:tc>
                  <a:txBody>
                    <a:bodyPr/>
                    <a:p>
                      <a:pPr>
                        <a:buNone/>
                      </a:pPr>
                      <a:r>
                        <a:rPr lang="en-US" sz="2000"/>
                        <a:t>0.6489</a:t>
                      </a:r>
                      <a:endParaRPr lang="en-US" sz="2000"/>
                    </a:p>
                  </a:txBody>
                  <a:tcPr/>
                </a:tc>
                <a:tc>
                  <a:txBody>
                    <a:bodyPr/>
                    <a:p>
                      <a:pPr>
                        <a:buNone/>
                      </a:pPr>
                      <a:r>
                        <a:rPr lang="en-US" sz="2000"/>
                        <a:t>0.3561</a:t>
                      </a:r>
                      <a:endParaRPr lang="en-US" sz="2000"/>
                    </a:p>
                  </a:txBody>
                  <a:tcPr/>
                </a:tc>
                <a:tc>
                  <a:txBody>
                    <a:bodyPr/>
                    <a:p>
                      <a:pPr>
                        <a:buNone/>
                      </a:pPr>
                      <a:r>
                        <a:rPr lang="en-US" sz="2000"/>
                        <a:t>0.2372</a:t>
                      </a:r>
                      <a:endParaRPr lang="en-US" sz="2000"/>
                    </a:p>
                  </a:txBody>
                  <a:tcPr/>
                </a:tc>
                <a:tc>
                  <a:txBody>
                    <a:bodyPr/>
                    <a:p>
                      <a:pPr>
                        <a:buNone/>
                      </a:pPr>
                      <a:r>
                        <a:rPr lang="en-US" sz="2000"/>
                        <a:t>0.7141</a:t>
                      </a:r>
                      <a:endParaRPr lang="en-US" sz="2000"/>
                    </a:p>
                  </a:txBody>
                  <a:tcPr/>
                </a:tc>
              </a:tr>
              <a:tr h="820420">
                <a:tc>
                  <a:txBody>
                    <a:bodyPr/>
                    <a:p>
                      <a:pPr>
                        <a:buNone/>
                      </a:pPr>
                      <a:r>
                        <a:rPr lang="en-US" sz="2000"/>
                        <a:t>KNN</a:t>
                      </a:r>
                      <a:endParaRPr lang="en-US" sz="2000"/>
                    </a:p>
                    <a:p>
                      <a:pPr>
                        <a:buNone/>
                      </a:pPr>
                      <a:r>
                        <a:rPr lang="en-US" sz="2000"/>
                        <a:t>(‘n-neighbors’: 196)</a:t>
                      </a:r>
                      <a:endParaRPr lang="en-US" sz="2000"/>
                    </a:p>
                  </a:txBody>
                  <a:tcPr/>
                </a:tc>
                <a:tc>
                  <a:txBody>
                    <a:bodyPr/>
                    <a:p>
                      <a:pPr>
                        <a:buNone/>
                      </a:pPr>
                      <a:r>
                        <a:rPr lang="en-US" sz="2000"/>
                        <a:t>0.7583</a:t>
                      </a:r>
                      <a:endParaRPr lang="en-US" sz="2000"/>
                    </a:p>
                  </a:txBody>
                  <a:tcPr/>
                </a:tc>
                <a:tc>
                  <a:txBody>
                    <a:bodyPr/>
                    <a:p>
                      <a:pPr>
                        <a:buNone/>
                      </a:pPr>
                      <a:r>
                        <a:rPr lang="en-US" sz="2000"/>
                        <a:t>0.7124</a:t>
                      </a:r>
                      <a:endParaRPr lang="en-US" sz="2000"/>
                    </a:p>
                  </a:txBody>
                  <a:tcPr/>
                </a:tc>
                <a:tc>
                  <a:txBody>
                    <a:bodyPr/>
                    <a:p>
                      <a:pPr>
                        <a:buNone/>
                      </a:pPr>
                      <a:r>
                        <a:rPr lang="en-US" sz="2000"/>
                        <a:t>0.2544</a:t>
                      </a:r>
                      <a:endParaRPr lang="en-US" sz="2000"/>
                    </a:p>
                  </a:txBody>
                  <a:tcPr/>
                </a:tc>
                <a:tc>
                  <a:txBody>
                    <a:bodyPr/>
                    <a:p>
                      <a:pPr>
                        <a:buNone/>
                      </a:pPr>
                      <a:r>
                        <a:rPr lang="en-US" sz="2000"/>
                        <a:t>0.5005</a:t>
                      </a:r>
                      <a:endParaRPr lang="en-US" sz="2000"/>
                    </a:p>
                  </a:txBody>
                  <a:tcPr/>
                </a:tc>
                <a:tc>
                  <a:txBody>
                    <a:bodyPr/>
                    <a:p>
                      <a:pPr>
                        <a:buNone/>
                      </a:pPr>
                      <a:r>
                        <a:rPr lang="en-US" sz="2000"/>
                        <a:t>0.1706</a:t>
                      </a:r>
                      <a:endParaRPr lang="en-US" sz="2000"/>
                    </a:p>
                  </a:txBody>
                  <a:tcPr/>
                </a:tc>
              </a:tr>
              <a:tr h="820420">
                <a:tc>
                  <a:txBody>
                    <a:bodyPr/>
                    <a:p>
                      <a:pPr>
                        <a:buNone/>
                      </a:pPr>
                      <a:r>
                        <a:rPr lang="en-US" sz="2000"/>
                        <a:t>Decision Tree</a:t>
                      </a:r>
                      <a:endParaRPr lang="en-US" sz="2000"/>
                    </a:p>
                    <a:p>
                      <a:pPr>
                        <a:buNone/>
                      </a:pPr>
                      <a:r>
                        <a:rPr lang="en-US" sz="2000"/>
                        <a:t>(‘max_depth’: 10)</a:t>
                      </a:r>
                      <a:endParaRPr lang="en-US" sz="2000"/>
                    </a:p>
                  </a:txBody>
                  <a:tcPr/>
                </a:tc>
                <a:tc>
                  <a:txBody>
                    <a:bodyPr/>
                    <a:p>
                      <a:pPr>
                        <a:buNone/>
                      </a:pPr>
                      <a:r>
                        <a:rPr lang="en-US" sz="2000"/>
                        <a:t>0.7344</a:t>
                      </a:r>
                      <a:endParaRPr lang="en-US" sz="2000"/>
                    </a:p>
                  </a:txBody>
                  <a:tcPr/>
                </a:tc>
                <a:tc>
                  <a:txBody>
                    <a:bodyPr/>
                    <a:p>
                      <a:pPr>
                        <a:buNone/>
                      </a:pPr>
                      <a:r>
                        <a:rPr lang="en-US" sz="2000"/>
                        <a:t>0.6994</a:t>
                      </a:r>
                      <a:endParaRPr lang="en-US" sz="2000"/>
                    </a:p>
                  </a:txBody>
                  <a:tcPr/>
                </a:tc>
                <a:tc>
                  <a:txBody>
                    <a:bodyPr/>
                    <a:p>
                      <a:pPr>
                        <a:buNone/>
                      </a:pPr>
                      <a:r>
                        <a:rPr lang="en-US" sz="2000"/>
                        <a:t>0.4032</a:t>
                      </a:r>
                      <a:endParaRPr lang="en-US" sz="2000"/>
                    </a:p>
                  </a:txBody>
                  <a:tcPr/>
                </a:tc>
                <a:tc>
                  <a:txBody>
                    <a:bodyPr/>
                    <a:p>
                      <a:pPr>
                        <a:buNone/>
                      </a:pPr>
                      <a:r>
                        <a:rPr lang="en-US" sz="2000"/>
                        <a:t>0.2905</a:t>
                      </a:r>
                      <a:endParaRPr lang="en-US" sz="2000"/>
                    </a:p>
                  </a:txBody>
                  <a:tcPr/>
                </a:tc>
                <a:tc>
                  <a:txBody>
                    <a:bodyPr/>
                    <a:p>
                      <a:pPr>
                        <a:buNone/>
                      </a:pPr>
                      <a:r>
                        <a:rPr lang="en-US" sz="2000"/>
                        <a:t>0.6211</a:t>
                      </a:r>
                      <a:endParaRPr lang="en-US" sz="2000"/>
                    </a:p>
                  </a:txBody>
                  <a:tcPr/>
                </a:tc>
              </a:tr>
              <a:tr h="820420">
                <a:tc>
                  <a:txBody>
                    <a:bodyPr/>
                    <a:p>
                      <a:pPr>
                        <a:buNone/>
                      </a:pPr>
                      <a:r>
                        <a:rPr lang="en-US" sz="2000"/>
                        <a:t>Random Forest (‘max_depth’: 10)</a:t>
                      </a:r>
                      <a:endParaRPr lang="en-US" sz="2000"/>
                    </a:p>
                  </a:txBody>
                  <a:tcPr/>
                </a:tc>
                <a:tc>
                  <a:txBody>
                    <a:bodyPr/>
                    <a:p>
                      <a:pPr>
                        <a:buNone/>
                      </a:pPr>
                      <a:r>
                        <a:rPr lang="en-US" sz="2000"/>
                        <a:t>0.7609</a:t>
                      </a:r>
                      <a:endParaRPr lang="en-US" sz="2000"/>
                    </a:p>
                  </a:txBody>
                  <a:tcPr/>
                </a:tc>
                <a:tc>
                  <a:txBody>
                    <a:bodyPr/>
                    <a:p>
                      <a:pPr>
                        <a:buNone/>
                      </a:pPr>
                      <a:r>
                        <a:rPr lang="en-US" sz="2000"/>
                        <a:t>0.7161</a:t>
                      </a:r>
                      <a:endParaRPr lang="en-US" sz="2000"/>
                    </a:p>
                  </a:txBody>
                  <a:tcPr/>
                </a:tc>
                <a:tc>
                  <a:txBody>
                    <a:bodyPr/>
                    <a:p>
                      <a:pPr>
                        <a:buNone/>
                      </a:pPr>
                      <a:r>
                        <a:rPr lang="en-US" sz="2000"/>
                        <a:t>0.4166</a:t>
                      </a:r>
                      <a:endParaRPr lang="en-US" sz="2000"/>
                    </a:p>
                  </a:txBody>
                  <a:tcPr/>
                </a:tc>
                <a:tc>
                  <a:txBody>
                    <a:bodyPr/>
                    <a:p>
                      <a:pPr>
                        <a:buNone/>
                      </a:pPr>
                      <a:r>
                        <a:rPr lang="en-US" sz="2000"/>
                        <a:t>0.3213</a:t>
                      </a:r>
                      <a:endParaRPr lang="en-US" sz="2000"/>
                    </a:p>
                  </a:txBody>
                  <a:tcPr/>
                </a:tc>
                <a:tc>
                  <a:txBody>
                    <a:bodyPr/>
                    <a:p>
                      <a:pPr>
                        <a:buNone/>
                      </a:pPr>
                      <a:r>
                        <a:rPr lang="en-US" sz="2000"/>
                        <a:t>0.5921</a:t>
                      </a:r>
                      <a:endParaRPr lang="en-US" sz="2000"/>
                    </a:p>
                  </a:txBody>
                  <a:tcPr/>
                </a:tc>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Model Selection</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graphicFrame>
        <p:nvGraphicFramePr>
          <p:cNvPr id="3" name="Table 2"/>
          <p:cNvGraphicFramePr/>
          <p:nvPr>
            <p:custDataLst>
              <p:tags r:id="rId2"/>
            </p:custDataLst>
          </p:nvPr>
        </p:nvGraphicFramePr>
        <p:xfrm>
          <a:off x="308610" y="1408430"/>
          <a:ext cx="12489180" cy="4130675"/>
        </p:xfrm>
        <a:graphic>
          <a:graphicData uri="http://schemas.openxmlformats.org/drawingml/2006/table">
            <a:tbl>
              <a:tblPr firstRow="1" bandRow="1">
                <a:tableStyleId>{5940675A-B579-460E-94D1-54222C63F5DA}</a:tableStyleId>
              </a:tblPr>
              <a:tblGrid>
                <a:gridCol w="2932430"/>
                <a:gridCol w="2259965"/>
                <a:gridCol w="1586230"/>
                <a:gridCol w="1547495"/>
                <a:gridCol w="2081530"/>
                <a:gridCol w="2081530"/>
              </a:tblGrid>
              <a:tr h="826135">
                <a:tc>
                  <a:txBody>
                    <a:bodyPr/>
                    <a:p>
                      <a:pPr>
                        <a:buNone/>
                      </a:pPr>
                      <a:r>
                        <a:rPr lang="en-US" sz="2000"/>
                        <a:t>Models / Performance</a:t>
                      </a:r>
                      <a:endParaRPr lang="en-US" sz="2000"/>
                    </a:p>
                  </a:txBody>
                  <a:tcPr/>
                </a:tc>
                <a:tc>
                  <a:txBody>
                    <a:bodyPr/>
                    <a:p>
                      <a:pPr>
                        <a:buNone/>
                      </a:pPr>
                      <a:r>
                        <a:rPr lang="en-US" sz="2000"/>
                        <a:t>CV AUC</a:t>
                      </a:r>
                      <a:endParaRPr lang="en-US" sz="2000"/>
                    </a:p>
                  </a:txBody>
                  <a:tcPr/>
                </a:tc>
                <a:tc>
                  <a:txBody>
                    <a:bodyPr/>
                    <a:p>
                      <a:pPr>
                        <a:buNone/>
                      </a:pPr>
                      <a:r>
                        <a:rPr lang="en-US" sz="2000"/>
                        <a:t>Test AUC</a:t>
                      </a:r>
                      <a:endParaRPr lang="en-US" sz="2000"/>
                    </a:p>
                  </a:txBody>
                  <a:tcPr/>
                </a:tc>
                <a:tc>
                  <a:txBody>
                    <a:bodyPr/>
                    <a:p>
                      <a:pPr>
                        <a:buNone/>
                      </a:pPr>
                      <a:r>
                        <a:rPr lang="en-US" sz="2000"/>
                        <a:t>F1-score</a:t>
                      </a:r>
                      <a:endParaRPr lang="en-US" sz="2000"/>
                    </a:p>
                  </a:txBody>
                  <a:tcPr/>
                </a:tc>
                <a:tc>
                  <a:txBody>
                    <a:bodyPr/>
                    <a:p>
                      <a:pPr>
                        <a:buNone/>
                      </a:pPr>
                      <a:r>
                        <a:rPr lang="en-US" sz="2000"/>
                        <a:t>Precision</a:t>
                      </a:r>
                      <a:endParaRPr lang="en-US" sz="2000"/>
                    </a:p>
                  </a:txBody>
                  <a:tcPr/>
                </a:tc>
                <a:tc>
                  <a:txBody>
                    <a:bodyPr/>
                    <a:p>
                      <a:pPr>
                        <a:buNone/>
                      </a:pPr>
                      <a:r>
                        <a:rPr lang="en-US" sz="2000"/>
                        <a:t>Recall</a:t>
                      </a:r>
                      <a:endParaRPr lang="en-US" sz="2000"/>
                    </a:p>
                  </a:txBody>
                  <a:tcPr/>
                </a:tc>
              </a:tr>
              <a:tr h="826135">
                <a:tc>
                  <a:txBody>
                    <a:bodyPr/>
                    <a:p>
                      <a:pPr>
                        <a:buNone/>
                      </a:pPr>
                      <a:r>
                        <a:rPr lang="en-US" sz="2000"/>
                        <a:t>Logistic Regression</a:t>
                      </a:r>
                      <a:endParaRPr lang="en-US" sz="2000"/>
                    </a:p>
                    <a:p>
                      <a:pPr>
                        <a:buNone/>
                      </a:pPr>
                      <a:r>
                        <a:rPr lang="en-US" sz="2000"/>
                        <a:t>(‘C’: 46.42)</a:t>
                      </a:r>
                      <a:endParaRPr lang="en-US" sz="2000"/>
                    </a:p>
                  </a:txBody>
                  <a:tcPr/>
                </a:tc>
                <a:tc>
                  <a:txBody>
                    <a:bodyPr/>
                    <a:p>
                      <a:pPr>
                        <a:buNone/>
                      </a:pPr>
                      <a:r>
                        <a:rPr lang="en-US" sz="2000"/>
                        <a:t>0.6386</a:t>
                      </a:r>
                      <a:endParaRPr lang="en-US" sz="2000"/>
                    </a:p>
                  </a:txBody>
                  <a:tcPr/>
                </a:tc>
                <a:tc>
                  <a:txBody>
                    <a:bodyPr/>
                    <a:p>
                      <a:pPr>
                        <a:buNone/>
                      </a:pPr>
                      <a:r>
                        <a:rPr lang="en-US" sz="2000"/>
                        <a:t>0.6489</a:t>
                      </a:r>
                      <a:endParaRPr lang="en-US" sz="2000"/>
                    </a:p>
                  </a:txBody>
                  <a:tcPr/>
                </a:tc>
                <a:tc>
                  <a:txBody>
                    <a:bodyPr/>
                    <a:p>
                      <a:pPr>
                        <a:buNone/>
                      </a:pPr>
                      <a:r>
                        <a:rPr lang="en-US" sz="2000"/>
                        <a:t>0.3561</a:t>
                      </a:r>
                      <a:endParaRPr lang="en-US" sz="2000"/>
                    </a:p>
                  </a:txBody>
                  <a:tcPr/>
                </a:tc>
                <a:tc>
                  <a:txBody>
                    <a:bodyPr/>
                    <a:p>
                      <a:pPr>
                        <a:buNone/>
                      </a:pPr>
                      <a:r>
                        <a:rPr lang="en-US" sz="2000"/>
                        <a:t>0.2372</a:t>
                      </a:r>
                      <a:endParaRPr lang="en-US" sz="2000"/>
                    </a:p>
                  </a:txBody>
                  <a:tcPr/>
                </a:tc>
                <a:tc>
                  <a:txBody>
                    <a:bodyPr/>
                    <a:p>
                      <a:pPr>
                        <a:buNone/>
                      </a:pPr>
                      <a:r>
                        <a:rPr lang="en-US" sz="2000"/>
                        <a:t>0.7141</a:t>
                      </a:r>
                      <a:endParaRPr lang="en-US" sz="2000"/>
                    </a:p>
                  </a:txBody>
                  <a:tcPr/>
                </a:tc>
              </a:tr>
              <a:tr h="826135">
                <a:tc>
                  <a:txBody>
                    <a:bodyPr/>
                    <a:p>
                      <a:pPr>
                        <a:buNone/>
                      </a:pPr>
                      <a:r>
                        <a:rPr lang="en-US" sz="2000"/>
                        <a:t>KNN</a:t>
                      </a:r>
                      <a:endParaRPr lang="en-US" sz="2000"/>
                    </a:p>
                    <a:p>
                      <a:pPr>
                        <a:buNone/>
                      </a:pPr>
                      <a:r>
                        <a:rPr lang="en-US" sz="2000"/>
                        <a:t>(‘n-neighbors’: 196)</a:t>
                      </a:r>
                      <a:endParaRPr lang="en-US" sz="2000"/>
                    </a:p>
                  </a:txBody>
                  <a:tcPr/>
                </a:tc>
                <a:tc>
                  <a:txBody>
                    <a:bodyPr/>
                    <a:p>
                      <a:pPr>
                        <a:buNone/>
                      </a:pPr>
                      <a:r>
                        <a:rPr lang="en-US" sz="2000"/>
                        <a:t>0.7583</a:t>
                      </a:r>
                      <a:endParaRPr lang="en-US" sz="2000"/>
                    </a:p>
                  </a:txBody>
                  <a:tcPr/>
                </a:tc>
                <a:tc>
                  <a:txBody>
                    <a:bodyPr/>
                    <a:p>
                      <a:pPr>
                        <a:buNone/>
                      </a:pPr>
                      <a:r>
                        <a:rPr lang="en-US" sz="2000"/>
                        <a:t>0.7124</a:t>
                      </a:r>
                      <a:endParaRPr lang="en-US" sz="2000"/>
                    </a:p>
                  </a:txBody>
                  <a:tcPr/>
                </a:tc>
                <a:tc>
                  <a:txBody>
                    <a:bodyPr/>
                    <a:p>
                      <a:pPr>
                        <a:buNone/>
                      </a:pPr>
                      <a:r>
                        <a:rPr lang="en-US" sz="2000"/>
                        <a:t>0.2544</a:t>
                      </a:r>
                      <a:endParaRPr lang="en-US" sz="2000"/>
                    </a:p>
                  </a:txBody>
                  <a:tcPr/>
                </a:tc>
                <a:tc>
                  <a:txBody>
                    <a:bodyPr/>
                    <a:p>
                      <a:pPr>
                        <a:buNone/>
                      </a:pPr>
                      <a:r>
                        <a:rPr lang="en-US" sz="2000"/>
                        <a:t>0.5005</a:t>
                      </a:r>
                      <a:endParaRPr lang="en-US" sz="2000"/>
                    </a:p>
                  </a:txBody>
                  <a:tcPr/>
                </a:tc>
                <a:tc>
                  <a:txBody>
                    <a:bodyPr/>
                    <a:p>
                      <a:pPr>
                        <a:buNone/>
                      </a:pPr>
                      <a:r>
                        <a:rPr lang="en-US" sz="2000"/>
                        <a:t>0.1706</a:t>
                      </a:r>
                      <a:endParaRPr lang="en-US" sz="2000"/>
                    </a:p>
                  </a:txBody>
                  <a:tcPr/>
                </a:tc>
              </a:tr>
              <a:tr h="826135">
                <a:tc>
                  <a:txBody>
                    <a:bodyPr/>
                    <a:p>
                      <a:pPr>
                        <a:buNone/>
                      </a:pPr>
                      <a:r>
                        <a:rPr lang="en-US" sz="2000"/>
                        <a:t>Decision Tree</a:t>
                      </a:r>
                      <a:endParaRPr lang="en-US" sz="2000"/>
                    </a:p>
                    <a:p>
                      <a:pPr>
                        <a:buNone/>
                      </a:pPr>
                      <a:r>
                        <a:rPr lang="en-US" sz="2000"/>
                        <a:t>(‘max_depth’: 10)</a:t>
                      </a:r>
                      <a:endParaRPr lang="en-US" sz="2000"/>
                    </a:p>
                  </a:txBody>
                  <a:tcPr/>
                </a:tc>
                <a:tc>
                  <a:txBody>
                    <a:bodyPr/>
                    <a:p>
                      <a:pPr>
                        <a:buNone/>
                      </a:pPr>
                      <a:r>
                        <a:rPr lang="en-US" sz="2000"/>
                        <a:t>0.7344</a:t>
                      </a:r>
                      <a:endParaRPr lang="en-US" sz="2000"/>
                    </a:p>
                  </a:txBody>
                  <a:tcPr/>
                </a:tc>
                <a:tc>
                  <a:txBody>
                    <a:bodyPr/>
                    <a:p>
                      <a:pPr>
                        <a:buNone/>
                      </a:pPr>
                      <a:r>
                        <a:rPr lang="en-US" sz="2000"/>
                        <a:t>0.6994</a:t>
                      </a:r>
                      <a:endParaRPr lang="en-US" sz="2000"/>
                    </a:p>
                  </a:txBody>
                  <a:tcPr/>
                </a:tc>
                <a:tc>
                  <a:txBody>
                    <a:bodyPr/>
                    <a:p>
                      <a:pPr>
                        <a:buNone/>
                      </a:pPr>
                      <a:r>
                        <a:rPr lang="en-US" sz="2000"/>
                        <a:t>0.4032</a:t>
                      </a:r>
                      <a:endParaRPr lang="en-US" sz="2000"/>
                    </a:p>
                  </a:txBody>
                  <a:tcPr/>
                </a:tc>
                <a:tc>
                  <a:txBody>
                    <a:bodyPr/>
                    <a:p>
                      <a:pPr>
                        <a:buNone/>
                      </a:pPr>
                      <a:r>
                        <a:rPr lang="en-US" sz="2000"/>
                        <a:t>0.2905</a:t>
                      </a:r>
                      <a:endParaRPr lang="en-US" sz="2000"/>
                    </a:p>
                  </a:txBody>
                  <a:tcPr/>
                </a:tc>
                <a:tc>
                  <a:txBody>
                    <a:bodyPr/>
                    <a:p>
                      <a:pPr>
                        <a:buNone/>
                      </a:pPr>
                      <a:r>
                        <a:rPr lang="en-US" sz="2000"/>
                        <a:t>0.6211</a:t>
                      </a:r>
                      <a:endParaRPr lang="en-US" sz="2000"/>
                    </a:p>
                  </a:txBody>
                  <a:tcPr/>
                </a:tc>
              </a:tr>
              <a:tr h="826135">
                <a:tc>
                  <a:txBody>
                    <a:bodyPr/>
                    <a:p>
                      <a:pPr>
                        <a:buNone/>
                      </a:pPr>
                      <a:r>
                        <a:rPr lang="en-US" sz="2000">
                          <a:solidFill>
                            <a:srgbClr val="7030A0"/>
                          </a:solidFill>
                        </a:rPr>
                        <a:t>Random Forest (‘max_depth’: 10)</a:t>
                      </a:r>
                      <a:endParaRPr lang="en-US" sz="2000">
                        <a:solidFill>
                          <a:srgbClr val="7030A0"/>
                        </a:solidFill>
                      </a:endParaRPr>
                    </a:p>
                  </a:txBody>
                  <a:tcPr/>
                </a:tc>
                <a:tc>
                  <a:txBody>
                    <a:bodyPr/>
                    <a:p>
                      <a:pPr>
                        <a:buNone/>
                      </a:pPr>
                      <a:r>
                        <a:rPr lang="en-US" sz="2000">
                          <a:solidFill>
                            <a:srgbClr val="FF0000"/>
                          </a:solidFill>
                        </a:rPr>
                        <a:t>0.7609</a:t>
                      </a:r>
                      <a:endParaRPr lang="en-US" sz="2000">
                        <a:solidFill>
                          <a:srgbClr val="FF0000"/>
                        </a:solidFill>
                      </a:endParaRPr>
                    </a:p>
                  </a:txBody>
                  <a:tcPr/>
                </a:tc>
                <a:tc>
                  <a:txBody>
                    <a:bodyPr/>
                    <a:p>
                      <a:pPr>
                        <a:buNone/>
                      </a:pPr>
                      <a:r>
                        <a:rPr lang="en-US" sz="2000">
                          <a:solidFill>
                            <a:srgbClr val="FF0000"/>
                          </a:solidFill>
                        </a:rPr>
                        <a:t>0.7161</a:t>
                      </a:r>
                      <a:endParaRPr lang="en-US" sz="2000">
                        <a:solidFill>
                          <a:srgbClr val="FF0000"/>
                        </a:solidFill>
                      </a:endParaRPr>
                    </a:p>
                  </a:txBody>
                  <a:tcPr/>
                </a:tc>
                <a:tc>
                  <a:txBody>
                    <a:bodyPr/>
                    <a:p>
                      <a:pPr>
                        <a:buNone/>
                      </a:pPr>
                      <a:r>
                        <a:rPr lang="en-US" sz="2000">
                          <a:solidFill>
                            <a:srgbClr val="FF0000"/>
                          </a:solidFill>
                        </a:rPr>
                        <a:t>0.4166</a:t>
                      </a:r>
                      <a:endParaRPr lang="en-US" sz="2000">
                        <a:solidFill>
                          <a:srgbClr val="FF0000"/>
                        </a:solidFill>
                      </a:endParaRPr>
                    </a:p>
                  </a:txBody>
                  <a:tcPr/>
                </a:tc>
                <a:tc>
                  <a:txBody>
                    <a:bodyPr/>
                    <a:p>
                      <a:pPr>
                        <a:buNone/>
                      </a:pPr>
                      <a:r>
                        <a:rPr lang="en-US" sz="2000"/>
                        <a:t>0.3213</a:t>
                      </a:r>
                      <a:endParaRPr lang="en-US" sz="2000"/>
                    </a:p>
                  </a:txBody>
                  <a:tcPr/>
                </a:tc>
                <a:tc>
                  <a:txBody>
                    <a:bodyPr/>
                    <a:p>
                      <a:pPr>
                        <a:buNone/>
                      </a:pPr>
                      <a:r>
                        <a:rPr lang="en-US" sz="2000"/>
                        <a:t>0.5921</a:t>
                      </a:r>
                      <a:endParaRPr lang="en-US" sz="2000"/>
                    </a:p>
                  </a:txBody>
                  <a:tcPr/>
                </a:tc>
              </a:tr>
            </a:tbl>
          </a:graphicData>
        </a:graphic>
      </p:graphicFrame>
      <p:sp>
        <p:nvSpPr>
          <p:cNvPr id="6" name="Text Box 5"/>
          <p:cNvSpPr txBox="1"/>
          <p:nvPr/>
        </p:nvSpPr>
        <p:spPr>
          <a:xfrm>
            <a:off x="294640" y="5542915"/>
            <a:ext cx="12155170" cy="41021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Non-linear models show stronger discriminative ability, but may overfit </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(drop from CV AUC to Test AUC--KNN: 0.046, Decision Tree: 0.035, Random Forest: 0.045)</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C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Random Forest is selected:</a:t>
            </a:r>
            <a:endParaRPr kumimoji="0" lang="en-US" sz="2600" i="0" u="none" strike="noStrike" cap="none" spc="0" normalizeH="0" baseline="0">
              <a:ln>
                <a:noFill/>
              </a:ln>
              <a:solidFill>
                <a:srgbClr val="C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Highest CV AUC--strongest discriminative ability in training</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Highest Test AUC--best generalization ability</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(3) Highest F1-score--balance between precision and recall</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ctr" defTabSz="584200" rtl="0" fontAlgn="auto" latinLnBrk="0" hangingPunct="0">
              <a:lnSpc>
                <a:spcPct val="100000"/>
              </a:lnSpc>
              <a:spcBef>
                <a:spcPts val="0"/>
              </a:spcBef>
              <a:spcAft>
                <a:spcPts val="0"/>
              </a:spcAft>
              <a:buClrTx/>
              <a:buSzTx/>
              <a:buFontTx/>
              <a:buNone/>
            </a:pPr>
            <a:r>
              <a:rPr kumimoji="0" lang="en-US"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 </a:t>
            </a:r>
            <a:endParaRPr kumimoji="0" lang="en-US"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fontScale="90000"/>
          </a:bodyPr>
          <a:lstStyle/>
          <a:p>
            <a:pPr>
              <a:lnSpc>
                <a:spcPct val="100000"/>
              </a:lnSpc>
            </a:pPr>
            <a:r>
              <a:rPr lang="en-US" dirty="0">
                <a:solidFill>
                  <a:srgbClr val="FFFFFF">
                    <a:lumMod val="95000"/>
                  </a:srgbClr>
                </a:solidFill>
              </a:rPr>
              <a:t>Method</a:t>
            </a:r>
            <a:br>
              <a:rPr lang="en-US" dirty="0">
                <a:solidFill>
                  <a:srgbClr val="FFFFFF">
                    <a:lumMod val="95000"/>
                  </a:srgbClr>
                </a:solidFill>
              </a:rPr>
            </a:br>
            <a:r>
              <a:rPr lang="en-US" sz="3555" dirty="0">
                <a:solidFill>
                  <a:srgbClr val="FFFFFF">
                    <a:lumMod val="95000"/>
                  </a:srgbClr>
                </a:solidFill>
              </a:rPr>
              <a:t>Laughter Detection</a:t>
            </a:r>
            <a:endParaRPr lang="en-US" sz="3555"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8" name="Speech signals:…"/>
          <p:cNvSpPr txBox="1"/>
          <p:nvPr/>
        </p:nvSpPr>
        <p:spPr>
          <a:xfrm>
            <a:off x="707018" y="1560964"/>
            <a:ext cx="11895564" cy="7620001"/>
          </a:xfrm>
          <a:prstGeom prst="rect">
            <a:avLst/>
          </a:prstGeom>
          <a:ln w="12700">
            <a:miter lim="400000"/>
          </a:ln>
        </p:spPr>
        <p:txBody>
          <a:bodyPr lIns="50800" tIns="50800" rIns="50800" bIns="50800" anchor="ctr">
            <a:normAutofit/>
          </a:bodyPr>
          <a:lstStyle>
            <a:lvl1pPr marL="381000" marR="0" indent="-381000" algn="l" defTabSz="584200" rtl="0" latinLnBrk="0">
              <a:lnSpc>
                <a:spcPct val="100000"/>
              </a:lnSpc>
              <a:spcBef>
                <a:spcPts val="400"/>
              </a:spcBef>
              <a:spcAft>
                <a:spcPts val="0"/>
              </a:spcAft>
              <a:buClrTx/>
              <a:buSzPct val="100000"/>
              <a:buFontTx/>
              <a:buChar char="•"/>
              <a:defRPr sz="3200" b="1"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1pPr>
            <a:lvl2pPr marL="889000" marR="0" indent="-444500" algn="l" defTabSz="584200" rtl="0" latinLnBrk="0">
              <a:lnSpc>
                <a:spcPct val="100000"/>
              </a:lnSpc>
              <a:spcBef>
                <a:spcPts val="400"/>
              </a:spcBef>
              <a:spcAft>
                <a:spcPts val="0"/>
              </a:spcAft>
              <a:buClrTx/>
              <a:buSzPct val="100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2pPr>
            <a:lvl3pPr marL="1333500" marR="0" indent="-444500" algn="l" defTabSz="584200" rtl="0" latinLnBrk="0">
              <a:lnSpc>
                <a:spcPct val="100000"/>
              </a:lnSpc>
              <a:spcBef>
                <a:spcPts val="3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3pPr>
            <a:lvl4pPr marL="1778000" marR="0" indent="-444500" algn="l" defTabSz="584200" rtl="0" latinLnBrk="0">
              <a:lnSpc>
                <a:spcPct val="100000"/>
              </a:lnSpc>
              <a:spcBef>
                <a:spcPts val="2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4pPr>
            <a:lvl5pPr marL="2222500" marR="0" indent="-444500" algn="l" defTabSz="584200" rtl="0" latinLnBrk="0">
              <a:lnSpc>
                <a:spcPct val="100000"/>
              </a:lnSpc>
              <a:spcBef>
                <a:spcPts val="1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5pPr>
            <a:lvl6pPr marL="2639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6pPr>
            <a:lvl7pPr marL="3083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7pPr>
            <a:lvl8pPr marL="3528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8pPr>
            <a:lvl9pPr marL="3972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9pPr>
          </a:lstStyle>
          <a:p>
            <a:pPr marL="0" indent="0" hangingPunct="1">
              <a:buNone/>
            </a:pPr>
            <a:endParaRPr lang="en-US" sz="2400" b="0" dirty="0"/>
          </a:p>
        </p:txBody>
      </p:sp>
      <p:sp>
        <p:nvSpPr>
          <p:cNvPr id="3" name="Text Box 2"/>
          <p:cNvSpPr txBox="1"/>
          <p:nvPr/>
        </p:nvSpPr>
        <p:spPr>
          <a:xfrm>
            <a:off x="414020" y="1140460"/>
            <a:ext cx="12036425" cy="70891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Apply the trained model to full dataset (244) to detect laughter for every frame (frame labels: 1 = laughter frame, 0 = non-laughter--speaker frame)</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Feature Extraction -- csv</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Laughter Feature (response):</a:t>
            </a:r>
            <a:endPar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laughter duration(sec) -- mean duration of every laughter segments (continuous frames)</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laughter volume(dB) -- mean volume of laughter frames</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Speaker Feature (predictors):</a:t>
            </a:r>
            <a:endPar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Onset Rate -- rhythmic activity</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Pitch Variability -- intonation variation</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(3) Energy Variability -- loudness variation</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(4) Expressiveness -- variation of tone color</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pic>
        <p:nvPicPr>
          <p:cNvPr id="2" name="Picture 1" descr="Weixin Image_20260303154258_860_82"/>
          <p:cNvPicPr>
            <a:picLocks noChangeAspect="1"/>
          </p:cNvPicPr>
          <p:nvPr/>
        </p:nvPicPr>
        <p:blipFill>
          <a:blip r:embed="rId2"/>
          <a:stretch>
            <a:fillRect/>
          </a:stretch>
        </p:blipFill>
        <p:spPr>
          <a:xfrm>
            <a:off x="706755" y="7583805"/>
            <a:ext cx="9246235" cy="1585595"/>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fontScale="90000"/>
          </a:bodyPr>
          <a:lstStyle/>
          <a:p>
            <a:pPr>
              <a:lnSpc>
                <a:spcPct val="100000"/>
              </a:lnSpc>
            </a:pPr>
            <a:r>
              <a:rPr lang="en-US" dirty="0">
                <a:solidFill>
                  <a:srgbClr val="FFFFFF">
                    <a:lumMod val="95000"/>
                  </a:srgbClr>
                </a:solidFill>
              </a:rPr>
              <a:t>Method</a:t>
            </a:r>
            <a:br>
              <a:rPr lang="en-US" dirty="0">
                <a:solidFill>
                  <a:srgbClr val="FFFFFF">
                    <a:lumMod val="95000"/>
                  </a:srgbClr>
                </a:solidFill>
              </a:rPr>
            </a:br>
            <a:r>
              <a:rPr lang="en-US" sz="3555" dirty="0">
                <a:solidFill>
                  <a:srgbClr val="FFFFFF">
                    <a:lumMod val="95000"/>
                  </a:srgbClr>
                </a:solidFill>
              </a:rPr>
              <a:t>Analysis of Speaker-Laughter Relationship</a:t>
            </a:r>
            <a:endParaRPr lang="en-US" sz="3555"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8" name="Speech signals:…"/>
          <p:cNvSpPr txBox="1"/>
          <p:nvPr/>
        </p:nvSpPr>
        <p:spPr>
          <a:xfrm>
            <a:off x="707018" y="1560964"/>
            <a:ext cx="11895564" cy="7620001"/>
          </a:xfrm>
          <a:prstGeom prst="rect">
            <a:avLst/>
          </a:prstGeom>
          <a:ln w="12700">
            <a:miter lim="400000"/>
          </a:ln>
        </p:spPr>
        <p:txBody>
          <a:bodyPr lIns="50800" tIns="50800" rIns="50800" bIns="50800" anchor="ctr">
            <a:normAutofit/>
          </a:bodyPr>
          <a:lstStyle>
            <a:lvl1pPr marL="381000" marR="0" indent="-381000" algn="l" defTabSz="584200" rtl="0" latinLnBrk="0">
              <a:lnSpc>
                <a:spcPct val="100000"/>
              </a:lnSpc>
              <a:spcBef>
                <a:spcPts val="400"/>
              </a:spcBef>
              <a:spcAft>
                <a:spcPts val="0"/>
              </a:spcAft>
              <a:buClrTx/>
              <a:buSzPct val="100000"/>
              <a:buFontTx/>
              <a:buChar char="•"/>
              <a:defRPr sz="3200" b="1"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1pPr>
            <a:lvl2pPr marL="889000" marR="0" indent="-444500" algn="l" defTabSz="584200" rtl="0" latinLnBrk="0">
              <a:lnSpc>
                <a:spcPct val="100000"/>
              </a:lnSpc>
              <a:spcBef>
                <a:spcPts val="400"/>
              </a:spcBef>
              <a:spcAft>
                <a:spcPts val="0"/>
              </a:spcAft>
              <a:buClrTx/>
              <a:buSzPct val="100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2pPr>
            <a:lvl3pPr marL="1333500" marR="0" indent="-444500" algn="l" defTabSz="584200" rtl="0" latinLnBrk="0">
              <a:lnSpc>
                <a:spcPct val="100000"/>
              </a:lnSpc>
              <a:spcBef>
                <a:spcPts val="3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3pPr>
            <a:lvl4pPr marL="1778000" marR="0" indent="-444500" algn="l" defTabSz="584200" rtl="0" latinLnBrk="0">
              <a:lnSpc>
                <a:spcPct val="100000"/>
              </a:lnSpc>
              <a:spcBef>
                <a:spcPts val="2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4pPr>
            <a:lvl5pPr marL="2222500" marR="0" indent="-444500" algn="l" defTabSz="584200" rtl="0" latinLnBrk="0">
              <a:lnSpc>
                <a:spcPct val="100000"/>
              </a:lnSpc>
              <a:spcBef>
                <a:spcPts val="1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5pPr>
            <a:lvl6pPr marL="2639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6pPr>
            <a:lvl7pPr marL="3083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7pPr>
            <a:lvl8pPr marL="3528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8pPr>
            <a:lvl9pPr marL="3972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9pPr>
          </a:lstStyle>
          <a:p>
            <a:pPr marL="0" indent="0" hangingPunct="1">
              <a:buNone/>
            </a:pPr>
            <a:endParaRPr lang="en-US" sz="2400" b="0" dirty="0"/>
          </a:p>
        </p:txBody>
      </p:sp>
      <p:sp>
        <p:nvSpPr>
          <p:cNvPr id="2" name="Text Box 1"/>
          <p:cNvSpPr txBox="1"/>
          <p:nvPr/>
        </p:nvSpPr>
        <p:spPr>
          <a:xfrm>
            <a:off x="314325" y="1566545"/>
            <a:ext cx="12287885" cy="74625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l" defTabSz="584200" rtl="0" fontAlgn="auto" latinLnBrk="0" hangingPunct="0">
              <a:lnSpc>
                <a:spcPct val="100000"/>
              </a:lnSpc>
              <a:spcBef>
                <a:spcPts val="0"/>
              </a:spcBef>
              <a:spcAft>
                <a:spcPts val="0"/>
              </a:spcAft>
              <a:buClrTx/>
              <a:buSzTx/>
              <a:buFontTx/>
              <a:buNone/>
            </a:pPr>
            <a:r>
              <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VIF:</a:t>
            </a:r>
            <a:endPar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onset rate: 14</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expressiveness: 981</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pitch variability: 1007</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energy variablity: 171</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OLS regression </a:t>
            </a: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 linear relationship between 4 speaker predictors (onset rate, expressiveness, pitch variability, energy variability) and laughter outcomes</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Lasso regression </a:t>
            </a: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 shrink unstable coefficients</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3. PCA </a:t>
            </a: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 transform predictors into orthogonal compoenents to reveal latent acoustic dimensions</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
        <p:nvSpPr>
          <p:cNvPr id="4" name="Right Arrow 3"/>
          <p:cNvSpPr/>
          <p:nvPr/>
        </p:nvSpPr>
        <p:spPr>
          <a:xfrm>
            <a:off x="4350385" y="3521075"/>
            <a:ext cx="2256790" cy="572135"/>
          </a:xfrm>
          <a:prstGeom prst="rightArrow">
            <a:avLst/>
          </a:prstGeom>
          <a:solidFill>
            <a:schemeClr val="accent1"/>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ctr" defTabSz="584200" rtl="0" fontAlgn="auto" latinLnBrk="0" hangingPunct="0">
              <a:lnSpc>
                <a:spcPct val="100000"/>
              </a:lnSpc>
              <a:spcBef>
                <a:spcPts val="0"/>
              </a:spcBef>
              <a:spcAft>
                <a:spcPts val="0"/>
              </a:spcAft>
              <a:buClrTx/>
              <a:buSzTx/>
              <a:buFontTx/>
              <a:buNone/>
            </a:pPr>
            <a:endParaRPr kumimoji="0" lang="en-US" sz="2200" b="0" i="0" u="none" strike="noStrike" cap="none" spc="0" normalizeH="0" baseline="0">
              <a:ln>
                <a:noFill/>
              </a:ln>
              <a:solidFill>
                <a:srgbClr val="FFFFFF"/>
              </a:solidFill>
              <a:effectLst/>
              <a:uFillTx/>
              <a:latin typeface="+mn-lt"/>
              <a:ea typeface="+mn-ea"/>
              <a:cs typeface="+mn-cs"/>
              <a:sym typeface="Helvetica Neue Medium" panose="02000503000000020004"/>
            </a:endParaRPr>
          </a:p>
        </p:txBody>
      </p:sp>
      <p:sp>
        <p:nvSpPr>
          <p:cNvPr id="5" name="Text Box 4"/>
          <p:cNvSpPr txBox="1"/>
          <p:nvPr/>
        </p:nvSpPr>
        <p:spPr>
          <a:xfrm>
            <a:off x="7100570" y="2979103"/>
            <a:ext cx="4471035" cy="1301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ctr"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Substantially exceed threshold (VIF = 10)</a:t>
            </a:r>
            <a:endParaRPr kumimoji="0" 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ctr" defTabSz="584200" rtl="0" fontAlgn="auto" latinLnBrk="0" hangingPunct="0">
              <a:lnSpc>
                <a:spcPct val="100000"/>
              </a:lnSpc>
              <a:spcBef>
                <a:spcPts val="0"/>
              </a:spcBef>
              <a:spcAft>
                <a:spcPts val="0"/>
              </a:spcAft>
              <a:buClrTx/>
              <a:buSzTx/>
              <a:buFontTx/>
              <a:buNone/>
            </a:pPr>
            <a:r>
              <a:rPr kumimoji="0" lang="en-US" sz="2600" b="1" i="0" u="none" strike="noStrike" cap="none" spc="0" normalizeH="0" baseline="0">
                <a:ln>
                  <a:noFill/>
                </a:ln>
                <a:solidFill>
                  <a:srgbClr val="C00000"/>
                </a:solidFill>
                <a:effectLst/>
                <a:uFillTx/>
                <a:latin typeface="Helvetica Neue" panose="02000503000000020004"/>
                <a:ea typeface="Helvetica Neue" panose="02000503000000020004"/>
                <a:cs typeface="Helvetica Neue" panose="02000503000000020004"/>
                <a:sym typeface="Helvetica Neue" panose="02000503000000020004"/>
              </a:rPr>
              <a:t>Severe multicollinearity</a:t>
            </a:r>
            <a:endParaRPr kumimoji="0" lang="en-US" sz="2600" b="1" i="0" u="none" strike="noStrike" cap="none" spc="0" normalizeH="0" baseline="0">
              <a:ln>
                <a:noFill/>
              </a:ln>
              <a:solidFill>
                <a:srgbClr val="C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Final Results -- OLS</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8" name="Speech signals:…"/>
          <p:cNvSpPr txBox="1"/>
          <p:nvPr/>
        </p:nvSpPr>
        <p:spPr>
          <a:xfrm>
            <a:off x="707018" y="1560964"/>
            <a:ext cx="11895564" cy="7620001"/>
          </a:xfrm>
          <a:prstGeom prst="rect">
            <a:avLst/>
          </a:prstGeom>
          <a:ln w="12700">
            <a:miter lim="400000"/>
          </a:ln>
        </p:spPr>
        <p:txBody>
          <a:bodyPr lIns="50800" tIns="50800" rIns="50800" bIns="50800" anchor="ctr">
            <a:normAutofit/>
          </a:bodyPr>
          <a:lstStyle>
            <a:lvl1pPr marL="381000" marR="0" indent="-381000" algn="l" defTabSz="584200" rtl="0" latinLnBrk="0">
              <a:lnSpc>
                <a:spcPct val="100000"/>
              </a:lnSpc>
              <a:spcBef>
                <a:spcPts val="400"/>
              </a:spcBef>
              <a:spcAft>
                <a:spcPts val="0"/>
              </a:spcAft>
              <a:buClrTx/>
              <a:buSzPct val="100000"/>
              <a:buFontTx/>
              <a:buChar char="•"/>
              <a:defRPr sz="3200" b="1"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1pPr>
            <a:lvl2pPr marL="889000" marR="0" indent="-444500" algn="l" defTabSz="584200" rtl="0" latinLnBrk="0">
              <a:lnSpc>
                <a:spcPct val="100000"/>
              </a:lnSpc>
              <a:spcBef>
                <a:spcPts val="400"/>
              </a:spcBef>
              <a:spcAft>
                <a:spcPts val="0"/>
              </a:spcAft>
              <a:buClrTx/>
              <a:buSzPct val="100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2pPr>
            <a:lvl3pPr marL="1333500" marR="0" indent="-444500" algn="l" defTabSz="584200" rtl="0" latinLnBrk="0">
              <a:lnSpc>
                <a:spcPct val="100000"/>
              </a:lnSpc>
              <a:spcBef>
                <a:spcPts val="3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3pPr>
            <a:lvl4pPr marL="1778000" marR="0" indent="-444500" algn="l" defTabSz="584200" rtl="0" latinLnBrk="0">
              <a:lnSpc>
                <a:spcPct val="100000"/>
              </a:lnSpc>
              <a:spcBef>
                <a:spcPts val="2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4pPr>
            <a:lvl5pPr marL="2222500" marR="0" indent="-444500" algn="l" defTabSz="584200" rtl="0" latinLnBrk="0">
              <a:lnSpc>
                <a:spcPct val="100000"/>
              </a:lnSpc>
              <a:spcBef>
                <a:spcPts val="1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5pPr>
            <a:lvl6pPr marL="2639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6pPr>
            <a:lvl7pPr marL="3083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7pPr>
            <a:lvl8pPr marL="3528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8pPr>
            <a:lvl9pPr marL="3972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9pPr>
          </a:lstStyle>
          <a:p>
            <a:pPr marL="0" indent="0" hangingPunct="1">
              <a:buNone/>
            </a:pPr>
            <a:endParaRPr lang="en-US" sz="2400" b="0" dirty="0"/>
          </a:p>
        </p:txBody>
      </p:sp>
      <p:sp>
        <p:nvSpPr>
          <p:cNvPr id="2" name="Text Box 1"/>
          <p:cNvSpPr txBox="1"/>
          <p:nvPr/>
        </p:nvSpPr>
        <p:spPr>
          <a:xfrm>
            <a:off x="118745" y="1140460"/>
            <a:ext cx="6060440" cy="84861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ctr" defTabSz="584200" rtl="0" fontAlgn="auto" latinLnBrk="0" hangingPunct="0">
              <a:lnSpc>
                <a:spcPct val="100000"/>
              </a:lnSpc>
              <a:spcBef>
                <a:spcPts val="0"/>
              </a:spcBef>
              <a:spcAft>
                <a:spcPts val="0"/>
              </a:spcAft>
              <a:buClrTx/>
              <a:buSzTx/>
              <a:buFontTx/>
              <a:buNone/>
            </a:pPr>
            <a:r>
              <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Laughter duration</a:t>
            </a:r>
            <a:endPar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Model:</a:t>
            </a:r>
            <a:endParaRPr kumimoji="0" lang="en-US"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F(4, 239) = 95.87, p &lt; 0.001, R² = 0.616 (adjusted R² = 0.610)</a:t>
            </a: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Statistically significant (</a:t>
            </a:r>
            <a:r>
              <a:rPr lang="en-US" altLang="en-US" b="0">
                <a:sym typeface="Helvetica Neue" panose="02000503000000020004"/>
              </a:rPr>
              <a:t>p &lt; 0.001</a:t>
            </a: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a:t>
            </a: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Explain 61.6% of the variance in laughter duration</a:t>
            </a: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Predictors:</a:t>
            </a:r>
            <a:endParaRPr kumimoji="0" lang="en-US" altLang="en-US"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(1) onset rate -- significant negative predictor (β = −0.295, t = -2.07, p = 0.039)</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(2) expressiveness, </a:t>
            </a:r>
            <a:r>
              <a:rPr lang="en-US" altLang="en-US" b="0">
                <a:latin typeface="Helvetica Neue" panose="02000503000000020004" charset="0"/>
                <a:cs typeface="Helvetica Neue" panose="02000503000000020004" charset="0"/>
                <a:sym typeface="Helvetica Neue" panose="02000503000000020004"/>
              </a:rPr>
              <a:t>energy variability, pitch variability</a:t>
            </a: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 -- significant positive predictors</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energy variability: β = 0.193, t = 6.99, </a:t>
            </a:r>
            <a:r>
              <a:rPr lang="en-US" altLang="en-US" b="0">
                <a:sym typeface="Helvetica Neue" panose="02000503000000020004"/>
              </a:rPr>
              <a:t>p &lt; 0.001</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expressiveness: </a:t>
            </a:r>
            <a:r>
              <a:rPr lang="en-US" altLang="en-US" b="0">
                <a:latin typeface="Helvetica Neue" panose="02000503000000020004" charset="0"/>
                <a:cs typeface="Helvetica Neue" panose="02000503000000020004" charset="0"/>
                <a:sym typeface="Helvetica Neue" panose="02000503000000020004"/>
              </a:rPr>
              <a:t>β = 0.138, t = 2.73, </a:t>
            </a:r>
            <a:r>
              <a:rPr lang="en-US" altLang="en-US" b="0">
                <a:sym typeface="Helvetica Neue" panose="02000503000000020004"/>
              </a:rPr>
              <a:t>p = 0.007</a:t>
            </a:r>
            <a:endParaRPr lang="en-US" altLang="en-US" b="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pitch variability: </a:t>
            </a:r>
            <a:r>
              <a:rPr lang="en-US" altLang="en-US" b="0">
                <a:latin typeface="Helvetica Neue" panose="02000503000000020004" charset="0"/>
                <a:cs typeface="Helvetica Neue" panose="02000503000000020004" charset="0"/>
                <a:sym typeface="Helvetica Neue" panose="02000503000000020004"/>
              </a:rPr>
              <a:t>β = 0.018, t = 2.21, </a:t>
            </a:r>
            <a:r>
              <a:rPr lang="en-US" altLang="en-US" b="0">
                <a:sym typeface="Helvetica Neue" panose="02000503000000020004"/>
              </a:rPr>
              <a:t>p = 0.028</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p:txBody>
      </p:sp>
      <p:sp>
        <p:nvSpPr>
          <p:cNvPr id="4" name="Text Box 3"/>
          <p:cNvSpPr txBox="1"/>
          <p:nvPr/>
        </p:nvSpPr>
        <p:spPr>
          <a:xfrm>
            <a:off x="6170295" y="1408113"/>
            <a:ext cx="6432550" cy="64109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ctr" defTabSz="584200" rtl="0" fontAlgn="auto" latinLnBrk="0" hangingPunct="0">
              <a:lnSpc>
                <a:spcPct val="100000"/>
              </a:lnSpc>
              <a:spcBef>
                <a:spcPts val="0"/>
              </a:spcBef>
              <a:spcAft>
                <a:spcPts val="0"/>
              </a:spcAft>
              <a:buClrTx/>
              <a:buSzTx/>
              <a:buFontTx/>
              <a:buNone/>
            </a:pPr>
            <a:r>
              <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Laughter volume</a:t>
            </a:r>
            <a:endParaRPr kumimoji="0" lang="en-US" sz="26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Model:</a:t>
            </a:r>
            <a:endParaRPr kumimoji="0" lang="en-US"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F(4, 239) = 65.42, p &lt; 0.001, R² = 0.523 (adjusted R² = 0.515)</a:t>
            </a: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(1) Statistically significant (</a:t>
            </a:r>
            <a:r>
              <a:rPr lang="en-US" altLang="en-US" b="0">
                <a:sym typeface="Helvetica Neue" panose="02000503000000020004"/>
              </a:rPr>
              <a:t>p &lt; 0.001</a:t>
            </a: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a:t>
            </a: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(2) Explain 52.3% of the variance in laughter duration</a:t>
            </a: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Predictors:</a:t>
            </a:r>
            <a:endParaRPr kumimoji="0" lang="en-US" altLang="en-US"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(1) pitch variability -- significant positive relationship (β = 0.460, t = 3.91, </a:t>
            </a:r>
            <a:r>
              <a:rPr lang="en-US" altLang="en-US" b="0">
                <a:sym typeface="Helvetica Neue" panose="02000503000000020004"/>
              </a:rPr>
              <a:t>p &lt; 0.001</a:t>
            </a: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(2) energy variability -- significant negative predictor </a:t>
            </a:r>
            <a:r>
              <a:rPr lang="en-US" altLang="en-US" b="0">
                <a:latin typeface="Helvetica Neue" panose="02000503000000020004" charset="0"/>
                <a:cs typeface="Helvetica Neue" panose="02000503000000020004" charset="0"/>
                <a:sym typeface="Helvetica Neue" panose="02000503000000020004"/>
              </a:rPr>
              <a:t>(β = -0.897, t = -14.72, </a:t>
            </a:r>
            <a:r>
              <a:rPr lang="en-US" altLang="en-US" b="0">
                <a:sym typeface="Helvetica Neue" panose="02000503000000020004"/>
              </a:rPr>
              <a:t>p &lt; 0.001</a:t>
            </a:r>
            <a:r>
              <a:rPr lang="en-US" altLang="en-US" b="0">
                <a:latin typeface="Helvetica Neue" panose="02000503000000020004" charset="0"/>
                <a:cs typeface="Helvetica Neue" panose="02000503000000020004" charset="0"/>
                <a:sym typeface="Helvetica Neue" panose="02000503000000020004"/>
              </a:rPr>
              <a:t>)</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(3) onset rate (p = 0.718) and expressiveness (p = 0.123) -- not significant predictors </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Final Results -- Lasso</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8" name="Speech signals:…"/>
          <p:cNvSpPr txBox="1"/>
          <p:nvPr/>
        </p:nvSpPr>
        <p:spPr>
          <a:xfrm>
            <a:off x="707018" y="1560964"/>
            <a:ext cx="11895564" cy="7620001"/>
          </a:xfrm>
          <a:prstGeom prst="rect">
            <a:avLst/>
          </a:prstGeom>
          <a:ln w="12700">
            <a:miter lim="400000"/>
          </a:ln>
        </p:spPr>
        <p:txBody>
          <a:bodyPr lIns="50800" tIns="50800" rIns="50800" bIns="50800" anchor="ctr">
            <a:normAutofit/>
          </a:bodyPr>
          <a:lstStyle>
            <a:lvl1pPr marL="381000" marR="0" indent="-381000" algn="l" defTabSz="584200" rtl="0" latinLnBrk="0">
              <a:lnSpc>
                <a:spcPct val="100000"/>
              </a:lnSpc>
              <a:spcBef>
                <a:spcPts val="400"/>
              </a:spcBef>
              <a:spcAft>
                <a:spcPts val="0"/>
              </a:spcAft>
              <a:buClrTx/>
              <a:buSzPct val="100000"/>
              <a:buFontTx/>
              <a:buChar char="•"/>
              <a:defRPr sz="3200" b="1"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1pPr>
            <a:lvl2pPr marL="889000" marR="0" indent="-444500" algn="l" defTabSz="584200" rtl="0" latinLnBrk="0">
              <a:lnSpc>
                <a:spcPct val="100000"/>
              </a:lnSpc>
              <a:spcBef>
                <a:spcPts val="400"/>
              </a:spcBef>
              <a:spcAft>
                <a:spcPts val="0"/>
              </a:spcAft>
              <a:buClrTx/>
              <a:buSzPct val="100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2pPr>
            <a:lvl3pPr marL="1333500" marR="0" indent="-444500" algn="l" defTabSz="584200" rtl="0" latinLnBrk="0">
              <a:lnSpc>
                <a:spcPct val="100000"/>
              </a:lnSpc>
              <a:spcBef>
                <a:spcPts val="3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3pPr>
            <a:lvl4pPr marL="1778000" marR="0" indent="-444500" algn="l" defTabSz="584200" rtl="0" latinLnBrk="0">
              <a:lnSpc>
                <a:spcPct val="100000"/>
              </a:lnSpc>
              <a:spcBef>
                <a:spcPts val="2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4pPr>
            <a:lvl5pPr marL="2222500" marR="0" indent="-444500" algn="l" defTabSz="584200" rtl="0" latinLnBrk="0">
              <a:lnSpc>
                <a:spcPct val="100000"/>
              </a:lnSpc>
              <a:spcBef>
                <a:spcPts val="1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5pPr>
            <a:lvl6pPr marL="2639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6pPr>
            <a:lvl7pPr marL="3083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7pPr>
            <a:lvl8pPr marL="3528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8pPr>
            <a:lvl9pPr marL="3972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9pPr>
          </a:lstStyle>
          <a:p>
            <a:pPr marL="0" indent="0" hangingPunct="1">
              <a:buNone/>
            </a:pPr>
            <a:endParaRPr lang="en-US" sz="2400" b="0" dirty="0"/>
          </a:p>
        </p:txBody>
      </p:sp>
      <p:sp>
        <p:nvSpPr>
          <p:cNvPr id="2" name="Text Box 1"/>
          <p:cNvSpPr txBox="1"/>
          <p:nvPr/>
        </p:nvSpPr>
        <p:spPr>
          <a:xfrm>
            <a:off x="395605" y="1267460"/>
            <a:ext cx="5447665" cy="84861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noAutofit/>
          </a:bodyPr>
          <a:p>
            <a:pPr marL="0" marR="0" indent="0" algn="ctr" defTabSz="584200" rtl="0" fontAlgn="auto" latinLnBrk="0" hangingPunct="0">
              <a:lnSpc>
                <a:spcPct val="100000"/>
              </a:lnSpc>
              <a:spcBef>
                <a:spcPts val="0"/>
              </a:spcBef>
              <a:spcAft>
                <a:spcPts val="0"/>
              </a:spcAft>
              <a:buClrTx/>
              <a:buSzTx/>
              <a:buFontTx/>
              <a:buNone/>
            </a:pPr>
            <a:r>
              <a:rPr kumimoji="0" lang="en-US" sz="28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Laughter duration</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lang="en-US" altLang="en-US" b="0">
              <a:latin typeface="Helvetica Neue" panose="02000503000000020004" charset="0"/>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sz="2600" b="0">
                <a:latin typeface="Helvetica Neue" panose="02000503000000020004" charset="0"/>
                <a:cs typeface="Helvetica Neue" panose="02000503000000020004" charset="0"/>
                <a:sym typeface="Helvetica Neue" panose="02000503000000020004"/>
              </a:rPr>
              <a:t>Best α = 0.00087, R² = 0.613</a:t>
            </a: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Coefficients of predictors:</a:t>
            </a: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onset rate:</a:t>
            </a:r>
            <a:r>
              <a:rPr kumimoji="0" lang="en-US" altLang="en-US" sz="2600" b="0" i="0" u="none" strike="noStrike" cap="none" spc="0" normalizeH="0" baseline="0">
                <a:ln>
                  <a:noFill/>
                </a:ln>
                <a:solidFill>
                  <a:srgbClr val="C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 -0.003*</a:t>
            </a:r>
            <a:r>
              <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 expressiveness: 0.019, pitch variability: 0.011, energy variabiity: 0.019</a:t>
            </a: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Coefficient of onset rate is substantially shrunk, approaching zero, suggesting its contribution may depend on other predictors.</a:t>
            </a: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p:txBody>
      </p:sp>
      <p:sp>
        <p:nvSpPr>
          <p:cNvPr id="4" name="Text Box 3"/>
          <p:cNvSpPr txBox="1"/>
          <p:nvPr/>
        </p:nvSpPr>
        <p:spPr>
          <a:xfrm>
            <a:off x="6390640" y="3059113"/>
            <a:ext cx="5700395" cy="49028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ctr" defTabSz="584200" rtl="0" fontAlgn="auto" latinLnBrk="0" hangingPunct="0">
              <a:lnSpc>
                <a:spcPct val="100000"/>
              </a:lnSpc>
              <a:spcBef>
                <a:spcPts val="0"/>
              </a:spcBef>
              <a:spcAft>
                <a:spcPts val="0"/>
              </a:spcAft>
              <a:buClrTx/>
              <a:buSzTx/>
              <a:buFontTx/>
              <a:buNone/>
            </a:pPr>
            <a:r>
              <a:rPr kumimoji="0" lang="en-US" sz="28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Laughter volume</a:t>
            </a:r>
            <a:endParaRPr kumimoji="0" lang="en-US" sz="28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lang="en-US" altLang="en-US" b="0">
              <a:latin typeface="Helvetica Neue" panose="02000503000000020004" charset="0"/>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sz="2600" b="0">
                <a:latin typeface="Helvetica Neue" panose="02000503000000020004" charset="0"/>
                <a:cs typeface="Helvetica Neue" panose="02000503000000020004" charset="0"/>
                <a:sym typeface="Helvetica Neue" panose="02000503000000020004"/>
              </a:rPr>
              <a:t>Best α = 0.00088, R² = 0.522</a:t>
            </a: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sz="2600" b="0">
                <a:latin typeface="Helvetica Neue" panose="02000503000000020004" charset="0"/>
                <a:cs typeface="Helvetica Neue" panose="02000503000000020004" charset="0"/>
                <a:sym typeface="Helvetica Neue" panose="02000503000000020004"/>
              </a:rPr>
              <a:t>Coefficients of predictors:</a:t>
            </a: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sz="2600" b="0">
                <a:latin typeface="Helvetica Neue" panose="02000503000000020004" charset="0"/>
                <a:cs typeface="Helvetica Neue" panose="02000503000000020004" charset="0"/>
                <a:sym typeface="Helvetica Neue" panose="02000503000000020004"/>
              </a:rPr>
              <a:t>onset rate:</a:t>
            </a:r>
            <a:r>
              <a:rPr lang="en-US" altLang="en-US" sz="2600" b="0">
                <a:solidFill>
                  <a:srgbClr val="C00000"/>
                </a:solidFill>
                <a:latin typeface="Helvetica Neue" panose="02000503000000020004" charset="0"/>
                <a:cs typeface="Helvetica Neue" panose="02000503000000020004" charset="0"/>
                <a:sym typeface="Helvetica Neue" panose="02000503000000020004"/>
              </a:rPr>
              <a:t> -0.001*</a:t>
            </a:r>
            <a:r>
              <a:rPr lang="en-US" altLang="en-US" sz="2600" b="0">
                <a:latin typeface="Helvetica Neue" panose="02000503000000020004" charset="0"/>
                <a:cs typeface="Helvetica Neue" panose="02000503000000020004" charset="0"/>
                <a:sym typeface="Helvetica Neue" panose="02000503000000020004"/>
              </a:rPr>
              <a:t>, expressiveness: </a:t>
            </a:r>
            <a:r>
              <a:rPr lang="en-US" altLang="en-US" sz="2600" b="0">
                <a:solidFill>
                  <a:srgbClr val="C00000"/>
                </a:solidFill>
                <a:latin typeface="Helvetica Neue" panose="02000503000000020004" charset="0"/>
                <a:cs typeface="Helvetica Neue" panose="02000503000000020004" charset="0"/>
                <a:sym typeface="Helvetica Neue" panose="02000503000000020004"/>
              </a:rPr>
              <a:t>0.002*</a:t>
            </a:r>
            <a:r>
              <a:rPr lang="en-US" altLang="en-US" sz="2600" b="0">
                <a:latin typeface="Helvetica Neue" panose="02000503000000020004" charset="0"/>
                <a:cs typeface="Helvetica Neue" panose="02000503000000020004" charset="0"/>
                <a:sym typeface="Helvetica Neue" panose="02000503000000020004"/>
              </a:rPr>
              <a:t>, pitch variability: 0.065, energy variabiity: -0.094</a:t>
            </a:r>
            <a:endParaRPr lang="en-US" altLang="en-US" sz="2600" b="0">
              <a:latin typeface="Helvetica Neue" panose="02000503000000020004" charset="0"/>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Coefficient of onset rate and expressiveness approach zero, showing their contribution may depend on other predictors.</a:t>
            </a: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Final Results -- PCA</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8" name="Speech signals:…"/>
          <p:cNvSpPr txBox="1"/>
          <p:nvPr/>
        </p:nvSpPr>
        <p:spPr>
          <a:xfrm>
            <a:off x="707018" y="1560964"/>
            <a:ext cx="11895564" cy="7620001"/>
          </a:xfrm>
          <a:prstGeom prst="rect">
            <a:avLst/>
          </a:prstGeom>
          <a:ln w="12700">
            <a:miter lim="400000"/>
          </a:ln>
        </p:spPr>
        <p:txBody>
          <a:bodyPr lIns="50800" tIns="50800" rIns="50800" bIns="50800" anchor="ctr">
            <a:normAutofit/>
          </a:bodyPr>
          <a:lstStyle>
            <a:lvl1pPr marL="381000" marR="0" indent="-381000" algn="l" defTabSz="584200" rtl="0" latinLnBrk="0">
              <a:lnSpc>
                <a:spcPct val="100000"/>
              </a:lnSpc>
              <a:spcBef>
                <a:spcPts val="400"/>
              </a:spcBef>
              <a:spcAft>
                <a:spcPts val="0"/>
              </a:spcAft>
              <a:buClrTx/>
              <a:buSzPct val="100000"/>
              <a:buFontTx/>
              <a:buChar char="•"/>
              <a:defRPr sz="3200" b="1"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1pPr>
            <a:lvl2pPr marL="889000" marR="0" indent="-444500" algn="l" defTabSz="584200" rtl="0" latinLnBrk="0">
              <a:lnSpc>
                <a:spcPct val="100000"/>
              </a:lnSpc>
              <a:spcBef>
                <a:spcPts val="400"/>
              </a:spcBef>
              <a:spcAft>
                <a:spcPts val="0"/>
              </a:spcAft>
              <a:buClrTx/>
              <a:buSzPct val="100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2pPr>
            <a:lvl3pPr marL="1333500" marR="0" indent="-444500" algn="l" defTabSz="584200" rtl="0" latinLnBrk="0">
              <a:lnSpc>
                <a:spcPct val="100000"/>
              </a:lnSpc>
              <a:spcBef>
                <a:spcPts val="3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3pPr>
            <a:lvl4pPr marL="1778000" marR="0" indent="-444500" algn="l" defTabSz="584200" rtl="0" latinLnBrk="0">
              <a:lnSpc>
                <a:spcPct val="100000"/>
              </a:lnSpc>
              <a:spcBef>
                <a:spcPts val="2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4pPr>
            <a:lvl5pPr marL="2222500" marR="0" indent="-444500" algn="l" defTabSz="584200" rtl="0" latinLnBrk="0">
              <a:lnSpc>
                <a:spcPct val="100000"/>
              </a:lnSpc>
              <a:spcBef>
                <a:spcPts val="1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5pPr>
            <a:lvl6pPr marL="2639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6pPr>
            <a:lvl7pPr marL="3083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7pPr>
            <a:lvl8pPr marL="3528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8pPr>
            <a:lvl9pPr marL="3972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9pPr>
          </a:lstStyle>
          <a:p>
            <a:pPr marL="0" indent="0" hangingPunct="1">
              <a:buNone/>
            </a:pPr>
            <a:endParaRPr lang="en-US" sz="2400" b="0" dirty="0"/>
          </a:p>
        </p:txBody>
      </p:sp>
      <p:sp>
        <p:nvSpPr>
          <p:cNvPr id="3" name="Text Box 2"/>
          <p:cNvSpPr txBox="1"/>
          <p:nvPr/>
        </p:nvSpPr>
        <p:spPr>
          <a:xfrm>
            <a:off x="374015" y="2424113"/>
            <a:ext cx="12075795" cy="5702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The first principal component (PC1) accounted for 79.31% of the total variance</a:t>
            </a: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The second principal component (PC2) accounted for an additional 11.75%</a:t>
            </a: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PC1 loadings: </a:t>
            </a:r>
            <a:endParaRPr kumimoji="0" lang="en-US" alt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onset rate:0.495, expressiveness: 0.520, pitch variability: 0.536, energy variability: 0.444</a:t>
            </a: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Interpretation: PC1 is a dimension characterized by simultaneous increases in rhythmic activity, expressiveness, pitch variance and volume variance.</a:t>
            </a: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sz="2600">
                <a:latin typeface="Helvetica Neue Bold" panose="02000503000000020004" charset="0"/>
                <a:cs typeface="Helvetica Neue Bold" panose="02000503000000020004" charset="0"/>
                <a:sym typeface="Helvetica Neue" panose="02000503000000020004"/>
              </a:rPr>
              <a:t>PC2 loadings: </a:t>
            </a:r>
            <a:endParaRPr lang="en-US" altLang="en-US" sz="2600">
              <a:latin typeface="Helvetica Neue Bold" panose="02000503000000020004" charset="0"/>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sz="2600" b="0">
                <a:sym typeface="Helvetica Neue" panose="02000503000000020004"/>
              </a:rPr>
              <a:t>onset rate: -0.125, expressiveness: -0.302, pitch variability: -0.327, energy variability: 0.887</a:t>
            </a: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sz="2600" b="0">
                <a:sym typeface="Helvetica Neue" panose="02000503000000020004"/>
              </a:rPr>
              <a:t>Interpretation: PC2 is a dimension characterized by fluctuations in loudness with stable pitch, tone color and rythmic activity</a:t>
            </a:r>
            <a:endParaRPr kumimoji="0" lang="en-US" altLang="en-US" sz="26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Final Results -- PCA</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8" name="Speech signals:…"/>
          <p:cNvSpPr txBox="1"/>
          <p:nvPr/>
        </p:nvSpPr>
        <p:spPr>
          <a:xfrm>
            <a:off x="707018" y="1560964"/>
            <a:ext cx="11895564" cy="7620001"/>
          </a:xfrm>
          <a:prstGeom prst="rect">
            <a:avLst/>
          </a:prstGeom>
          <a:ln w="12700">
            <a:miter lim="400000"/>
          </a:ln>
        </p:spPr>
        <p:txBody>
          <a:bodyPr lIns="50800" tIns="50800" rIns="50800" bIns="50800" anchor="ctr">
            <a:normAutofit/>
          </a:bodyPr>
          <a:lstStyle>
            <a:lvl1pPr marL="381000" marR="0" indent="-381000" algn="l" defTabSz="584200" rtl="0" latinLnBrk="0">
              <a:lnSpc>
                <a:spcPct val="100000"/>
              </a:lnSpc>
              <a:spcBef>
                <a:spcPts val="400"/>
              </a:spcBef>
              <a:spcAft>
                <a:spcPts val="0"/>
              </a:spcAft>
              <a:buClrTx/>
              <a:buSzPct val="100000"/>
              <a:buFontTx/>
              <a:buChar char="•"/>
              <a:defRPr sz="3200" b="1"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1pPr>
            <a:lvl2pPr marL="889000" marR="0" indent="-444500" algn="l" defTabSz="584200" rtl="0" latinLnBrk="0">
              <a:lnSpc>
                <a:spcPct val="100000"/>
              </a:lnSpc>
              <a:spcBef>
                <a:spcPts val="400"/>
              </a:spcBef>
              <a:spcAft>
                <a:spcPts val="0"/>
              </a:spcAft>
              <a:buClrTx/>
              <a:buSzPct val="100000"/>
              <a:buFontTx/>
              <a:buChar char="•"/>
              <a:defRPr sz="30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2pPr>
            <a:lvl3pPr marL="1333500" marR="0" indent="-444500" algn="l" defTabSz="584200" rtl="0" latinLnBrk="0">
              <a:lnSpc>
                <a:spcPct val="100000"/>
              </a:lnSpc>
              <a:spcBef>
                <a:spcPts val="3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3pPr>
            <a:lvl4pPr marL="1778000" marR="0" indent="-444500" algn="l" defTabSz="584200" rtl="0" latinLnBrk="0">
              <a:lnSpc>
                <a:spcPct val="100000"/>
              </a:lnSpc>
              <a:spcBef>
                <a:spcPts val="2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4pPr>
            <a:lvl5pPr marL="2222500" marR="0" indent="-444500" algn="l" defTabSz="584200" rtl="0" latinLnBrk="0">
              <a:lnSpc>
                <a:spcPct val="100000"/>
              </a:lnSpc>
              <a:spcBef>
                <a:spcPts val="100"/>
              </a:spcBef>
              <a:spcAft>
                <a:spcPts val="0"/>
              </a:spcAft>
              <a:buClrTx/>
              <a:buSzPct val="100000"/>
              <a:buFontTx/>
              <a:buChar char="•"/>
              <a:defRPr sz="2500" b="0" i="0" u="none" strike="noStrike" cap="none" spc="0" baseline="0">
                <a:ln>
                  <a:noFill/>
                </a:ln>
                <a:solidFill>
                  <a:srgbClr val="24456C"/>
                </a:solidFill>
                <a:uFillTx/>
                <a:latin typeface="Calibri" panose="020F0502020204030204" pitchFamily="34" charset="0"/>
                <a:ea typeface="Calibri" panose="020F0502020204030204" pitchFamily="34" charset="0"/>
                <a:cs typeface="Calibri" panose="020F0502020204030204" pitchFamily="34" charset="0"/>
                <a:sym typeface="Helvetica Neue" panose="02000503000000020004"/>
              </a:defRPr>
            </a:lvl5pPr>
            <a:lvl6pPr marL="2639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6pPr>
            <a:lvl7pPr marL="3083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7pPr>
            <a:lvl8pPr marL="35280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8pPr>
            <a:lvl9pPr marL="3972560" marR="0" indent="-416560" algn="l" defTabSz="584200" rtl="0" latinLnBrk="0">
              <a:lnSpc>
                <a:spcPct val="100000"/>
              </a:lnSpc>
              <a:spcBef>
                <a:spcPts val="400"/>
              </a:spcBef>
              <a:spcAft>
                <a:spcPts val="0"/>
              </a:spcAft>
              <a:buClrTx/>
              <a:buSzPct val="145000"/>
              <a:buFontTx/>
              <a:buChar char="•"/>
              <a:defRPr sz="3000" b="0" i="0" u="none" strike="noStrike" cap="none" spc="0" baseline="0">
                <a:ln>
                  <a:noFill/>
                </a:ln>
                <a:solidFill>
                  <a:srgbClr val="24456C"/>
                </a:solidFill>
                <a:uFillTx/>
                <a:latin typeface="Helvetica Neue" panose="02000503000000020004"/>
                <a:ea typeface="Helvetica Neue" panose="02000503000000020004"/>
                <a:cs typeface="Helvetica Neue" panose="02000503000000020004"/>
                <a:sym typeface="Helvetica Neue" panose="02000503000000020004"/>
              </a:defRPr>
            </a:lvl9pPr>
          </a:lstStyle>
          <a:p>
            <a:pPr marL="0" indent="0" hangingPunct="1">
              <a:buNone/>
            </a:pPr>
            <a:endParaRPr lang="en-US" sz="2400" b="0" dirty="0"/>
          </a:p>
        </p:txBody>
      </p:sp>
      <p:sp>
        <p:nvSpPr>
          <p:cNvPr id="3" name="Text Box 2"/>
          <p:cNvSpPr txBox="1"/>
          <p:nvPr/>
        </p:nvSpPr>
        <p:spPr>
          <a:xfrm>
            <a:off x="374015" y="1301115"/>
            <a:ext cx="7546975" cy="79495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ctr" defTabSz="584200" rtl="0" fontAlgn="auto" latinLnBrk="0" hangingPunct="0">
              <a:lnSpc>
                <a:spcPct val="100000"/>
              </a:lnSpc>
              <a:spcBef>
                <a:spcPts val="0"/>
              </a:spcBef>
              <a:spcAft>
                <a:spcPts val="0"/>
              </a:spcAft>
              <a:buClrTx/>
              <a:buSzTx/>
              <a:buFontTx/>
              <a:buNone/>
            </a:pPr>
            <a:r>
              <a:rPr kumimoji="0" lang="en-US" alt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Laughter duration</a:t>
            </a:r>
            <a:endParaRPr kumimoji="0" lang="en-US" alt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OLS regression result using PC1 as the predictor: F(1, 242) = 306.50, p &lt; 0.001, R² = 0.559</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Interpretation: </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(1) PC1 significantly predicts laughter duration (p &lt; 0.001) with positive coefficient (β = 0.023). </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(2) Longer laughter episodes are associated with higher overall fluctuations in rhythmic activity, tone color, pitch and loudness.</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alt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ctr" defTabSz="584200" rtl="0" fontAlgn="auto" latinLnBrk="0" hangingPunct="0">
              <a:lnSpc>
                <a:spcPct val="100000"/>
              </a:lnSpc>
              <a:spcBef>
                <a:spcPts val="0"/>
              </a:spcBef>
              <a:spcAft>
                <a:spcPts val="0"/>
              </a:spcAft>
              <a:buClrTx/>
              <a:buSzTx/>
              <a:buFontTx/>
              <a:buNone/>
            </a:pPr>
            <a:r>
              <a:rPr kumimoji="0" lang="en-US" alt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Laughter volume</a:t>
            </a:r>
            <a:endParaRPr kumimoji="0" lang="en-US" alt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PC1 does not significantly predict laughter volume (p = 0.248), but PC2 does.</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lang="en-US" altLang="en-US" b="0">
                <a:latin typeface="Helvetica Neue" panose="02000503000000020004" charset="0"/>
                <a:cs typeface="Helvetica Neue" panose="02000503000000020004" charset="0"/>
                <a:sym typeface="Helvetica Neue" panose="02000503000000020004"/>
              </a:rPr>
              <a:t>OLS regression result using PC2 as the predictor: </a:t>
            </a: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F(1, 242) = 253.00, p &lt; 0.001, R² = 0.511</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Interpretation:</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(1) PC2 significantly predicts laughter volume (</a:t>
            </a:r>
            <a:r>
              <a:rPr lang="en-US" altLang="en-US" b="0">
                <a:latin typeface="Helvetica Neue" panose="02000503000000020004" charset="0"/>
                <a:cs typeface="Helvetica Neue" panose="02000503000000020004" charset="0"/>
                <a:sym typeface="Helvetica Neue" panose="02000503000000020004"/>
              </a:rPr>
              <a:t>p &lt; 0.001</a:t>
            </a: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 with negative coefficient (</a:t>
            </a:r>
            <a:r>
              <a:rPr lang="en-US" altLang="en-US" b="0">
                <a:latin typeface="Helvetica Neue" panose="02000503000000020004" charset="0"/>
                <a:cs typeface="Helvetica Neue" panose="02000503000000020004" charset="0"/>
                <a:sym typeface="Helvetica Neue" panose="02000503000000020004"/>
              </a:rPr>
              <a:t>β = -0.115</a:t>
            </a: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 </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(2) Louder laughter is associated with stable loudness but fluctuated rythmic activity, pitch and tone color of speakers.</a:t>
            </a:r>
            <a:endParaRPr kumimoji="0" lang="en-US" altLang="en-US"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p:txBody>
      </p:sp>
      <p:pic>
        <p:nvPicPr>
          <p:cNvPr id="2" name="Picture 1" descr="PC1 vs Laughter Duration"/>
          <p:cNvPicPr>
            <a:picLocks noChangeAspect="1"/>
          </p:cNvPicPr>
          <p:nvPr/>
        </p:nvPicPr>
        <p:blipFill>
          <a:blip r:embed="rId2"/>
          <a:stretch>
            <a:fillRect/>
          </a:stretch>
        </p:blipFill>
        <p:spPr>
          <a:xfrm>
            <a:off x="7921625" y="1679575"/>
            <a:ext cx="4528820" cy="3401695"/>
          </a:xfrm>
          <a:prstGeom prst="rect">
            <a:avLst/>
          </a:prstGeom>
        </p:spPr>
      </p:pic>
      <p:pic>
        <p:nvPicPr>
          <p:cNvPr id="4" name="Picture 3" descr="PC2 vs Laughter Volume"/>
          <p:cNvPicPr>
            <a:picLocks noChangeAspect="1"/>
          </p:cNvPicPr>
          <p:nvPr/>
        </p:nvPicPr>
        <p:blipFill>
          <a:blip r:embed="rId3"/>
          <a:stretch>
            <a:fillRect/>
          </a:stretch>
        </p:blipFill>
        <p:spPr>
          <a:xfrm>
            <a:off x="8141335" y="5894070"/>
            <a:ext cx="4461510" cy="3402330"/>
          </a:xfrm>
          <a:prstGeom prst="rect">
            <a:avLst/>
          </a:prstGeom>
        </p:spPr>
      </p:pic>
      <p:sp>
        <p:nvSpPr>
          <p:cNvPr id="5" name="Text Box 4"/>
          <p:cNvSpPr txBox="1"/>
          <p:nvPr/>
        </p:nvSpPr>
        <p:spPr>
          <a:xfrm>
            <a:off x="8388350" y="1104900"/>
            <a:ext cx="3967480" cy="7169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l" defTabSz="584200" rtl="0" fontAlgn="auto" latinLnBrk="0" hangingPunct="0">
              <a:lnSpc>
                <a:spcPct val="100000"/>
              </a:lnSpc>
              <a:spcBef>
                <a:spcPts val="0"/>
              </a:spcBef>
              <a:spcAft>
                <a:spcPts val="0"/>
              </a:spcAft>
              <a:buClrTx/>
              <a:buSzTx/>
              <a:buFontTx/>
              <a:buNone/>
            </a:pPr>
            <a:r>
              <a:rPr kumimoji="0" lang="en-US" sz="20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Figure1: </a:t>
            </a:r>
            <a:r>
              <a:rPr kumimoji="0" lang="en-US" sz="2000" b="0" i="1" u="none" strike="noStrike" cap="none" spc="0" normalizeH="0" baseline="0">
                <a:ln>
                  <a:noFill/>
                </a:ln>
                <a:solidFill>
                  <a:srgbClr val="000000"/>
                </a:solidFill>
                <a:effectLst/>
                <a:uFillTx/>
                <a:latin typeface="Helvetica Neue Italic" panose="02000503000000020004" charset="0"/>
                <a:ea typeface="Helvetica Neue" panose="02000503000000020004"/>
                <a:cs typeface="Helvetica Neue Italic" panose="02000503000000020004" charset="0"/>
                <a:sym typeface="Helvetica Neue" panose="02000503000000020004"/>
              </a:rPr>
              <a:t>Relationship between PC1 and Laughter Duration</a:t>
            </a:r>
            <a:endParaRPr kumimoji="0" lang="en-US" sz="2000" b="0" i="1" u="none" strike="noStrike" cap="none" spc="0" normalizeH="0" baseline="0">
              <a:ln>
                <a:noFill/>
              </a:ln>
              <a:solidFill>
                <a:srgbClr val="000000"/>
              </a:solidFill>
              <a:effectLst/>
              <a:uFillTx/>
              <a:latin typeface="Helvetica Neue Italic" panose="02000503000000020004" charset="0"/>
              <a:ea typeface="Helvetica Neue" panose="02000503000000020004"/>
              <a:cs typeface="Helvetica Neue Italic" panose="02000503000000020004" charset="0"/>
              <a:sym typeface="Helvetica Neue" panose="02000503000000020004"/>
            </a:endParaRPr>
          </a:p>
        </p:txBody>
      </p:sp>
      <p:sp>
        <p:nvSpPr>
          <p:cNvPr id="6" name="Text Box 5"/>
          <p:cNvSpPr txBox="1"/>
          <p:nvPr/>
        </p:nvSpPr>
        <p:spPr>
          <a:xfrm>
            <a:off x="8515350" y="5090160"/>
            <a:ext cx="3967480" cy="7169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l" defTabSz="584200" rtl="0" fontAlgn="auto" latinLnBrk="0" hangingPunct="0">
              <a:lnSpc>
                <a:spcPct val="100000"/>
              </a:lnSpc>
              <a:spcBef>
                <a:spcPts val="0"/>
              </a:spcBef>
              <a:spcAft>
                <a:spcPts val="0"/>
              </a:spcAft>
              <a:buClrTx/>
              <a:buSzTx/>
              <a:buFontTx/>
              <a:buNone/>
            </a:pPr>
            <a:r>
              <a:rPr kumimoji="0" lang="en-US" sz="2000" b="0"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rPr>
              <a:t>Figure2: </a:t>
            </a:r>
            <a:r>
              <a:rPr kumimoji="0" lang="en-US" sz="2000" b="0" i="1" u="none" strike="noStrike" cap="none" spc="0" normalizeH="0" baseline="0">
                <a:ln>
                  <a:noFill/>
                </a:ln>
                <a:solidFill>
                  <a:srgbClr val="000000"/>
                </a:solidFill>
                <a:effectLst/>
                <a:uFillTx/>
                <a:latin typeface="Helvetica Neue Italic" panose="02000503000000020004" charset="0"/>
                <a:ea typeface="Helvetica Neue" panose="02000503000000020004"/>
                <a:cs typeface="Helvetica Neue Italic" panose="02000503000000020004" charset="0"/>
                <a:sym typeface="Helvetica Neue" panose="02000503000000020004"/>
              </a:rPr>
              <a:t>Relationship between PC2 and Laughter Volume</a:t>
            </a:r>
            <a:endParaRPr kumimoji="0" lang="en-US" sz="2000" b="0" i="1" u="none" strike="noStrike" cap="none" spc="0" normalizeH="0" baseline="0">
              <a:ln>
                <a:noFill/>
              </a:ln>
              <a:solidFill>
                <a:srgbClr val="000000"/>
              </a:solidFill>
              <a:effectLst/>
              <a:uFillTx/>
              <a:latin typeface="Helvetica Neue Italic" panose="02000503000000020004" charset="0"/>
              <a:ea typeface="Helvetica Neue" panose="02000503000000020004"/>
              <a:cs typeface="Helvetica Neue Italic" panose="02000503000000020004" charset="0"/>
              <a:sym typeface="Helvetica Neue" panose="02000503000000020004"/>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ontents"/>
          <p:cNvSpPr txBox="1">
            <a:spLocks noGrp="1"/>
          </p:cNvSpPr>
          <p:nvPr>
            <p:ph type="title"/>
          </p:nvPr>
        </p:nvSpPr>
        <p:spPr>
          <a:xfrm>
            <a:off x="-9087" y="-2272"/>
            <a:ext cx="13022974" cy="1143001"/>
          </a:xfrm>
          <a:prstGeom prst="rect">
            <a:avLst/>
          </a:prstGeom>
          <a:solidFill>
            <a:srgbClr val="24456C"/>
          </a:solidFill>
          <a:ln w="12700">
            <a:miter lim="400000"/>
          </a:ln>
        </p:spPr>
        <p:txBody>
          <a:bodyPr vert="horz" lIns="72000" tIns="0" rIns="0" bIns="0" anchor="ctr" anchorCtr="0">
            <a:normAutofit/>
          </a:bodyPr>
          <a:lstStyle/>
          <a:p>
            <a:pPr>
              <a:lnSpc>
                <a:spcPct val="100000"/>
              </a:lnSpc>
            </a:pPr>
            <a:r>
              <a:rPr lang="en-US" dirty="0">
                <a:solidFill>
                  <a:srgbClr val="FFFFFF">
                    <a:lumMod val="95000"/>
                  </a:srgbClr>
                </a:solidFill>
              </a:rPr>
              <a:t>Discussion</a:t>
            </a:r>
            <a:endParaRPr dirty="0">
              <a:solidFill>
                <a:srgbClr val="FFFFFF">
                  <a:lumMod val="95000"/>
                </a:srgbClr>
              </a:solidFill>
              <a:latin typeface="Calibri" panose="020F0502020204030204" pitchFamily="34" charset="0"/>
              <a:cs typeface="Calibri" panose="020F0502020204030204" pitchFamily="34" charset="0"/>
            </a:endParaRPr>
          </a:p>
        </p:txBody>
      </p:sp>
      <p:sp>
        <p:nvSpPr>
          <p:cNvPr id="130" name="Introduction…"/>
          <p:cNvSpPr txBox="1">
            <a:spLocks noGrp="1"/>
          </p:cNvSpPr>
          <p:nvPr>
            <p:ph type="body" idx="1"/>
          </p:nvPr>
        </p:nvSpPr>
        <p:spPr>
          <a:prstGeom prst="rect">
            <a:avLst/>
          </a:prstGeom>
        </p:spPr>
        <p:txBody>
          <a:bodyPr anchor="ctr"/>
          <a:lstStyle/>
          <a:p>
            <a:endParaRPr lang="en-US" dirty="0">
              <a:solidFill>
                <a:srgbClr val="21466C"/>
              </a:solidFill>
              <a:latin typeface="Calibri" panose="020F0502020204030204" pitchFamily="34" charset="0"/>
              <a:cs typeface="Calibri" panose="020F0502020204030204" pitchFamily="34" charset="0"/>
            </a:endParaRPr>
          </a:p>
          <a:p>
            <a:pPr marL="889000" lvl="2" indent="0">
              <a:buNone/>
            </a:pPr>
            <a:endParaRPr lang="en-US" dirty="0">
              <a:solidFill>
                <a:srgbClr val="21466C"/>
              </a:solidFill>
              <a:latin typeface="Calibri" panose="020F0502020204030204" pitchFamily="34" charset="0"/>
              <a:cs typeface="Calibri" panose="020F0502020204030204" pitchFamily="34" charset="0"/>
            </a:endParaRPr>
          </a:p>
          <a:p>
            <a:pPr marL="444500" lvl="1" indent="0">
              <a:buNone/>
            </a:pPr>
            <a:endParaRPr lang="en-US" dirty="0">
              <a:solidFill>
                <a:srgbClr val="21466C"/>
              </a:solidFill>
              <a:latin typeface="Calibri" panose="020F0502020204030204" pitchFamily="34" charset="0"/>
              <a:cs typeface="Calibri" panose="020F0502020204030204" pitchFamily="34" charset="0"/>
            </a:endParaRPr>
          </a:p>
        </p:txBody>
      </p:sp>
      <p:sp>
        <p:nvSpPr>
          <p:cNvPr id="131" name="Slide Number"/>
          <p:cNvSpPr txBox="1">
            <a:spLocks noGrp="1"/>
          </p:cNvSpPr>
          <p:nvPr>
            <p:ph type="sldNum" sz="quarter" idx="2"/>
          </p:nvPr>
        </p:nvSpPr>
        <p:spPr>
          <a:xfrm>
            <a:off x="6390809" y="9296400"/>
            <a:ext cx="216406" cy="348813"/>
          </a:xfrm>
          <a:prstGeom prst="rect">
            <a:avLst/>
          </a:prstGeom>
        </p:spPr>
        <p:txBody>
          <a:bodyPr/>
          <a:lstStyle/>
          <a:p>
            <a:fld id="{86CB4B4D-7CA3-9044-876B-883B54F8677D}" type="slidenum">
              <a:rPr smtClean="0">
                <a:latin typeface="Helvetica" pitchFamily="2" charset="0"/>
              </a:rPr>
            </a:fld>
            <a:endParaRPr dirty="0">
              <a:latin typeface="Helvetica" pitchFamily="2" charset="0"/>
            </a:endParaRPr>
          </a:p>
        </p:txBody>
      </p:sp>
      <p:pic>
        <p:nvPicPr>
          <p:cNvPr id="132" name="Image" descr="Image"/>
          <p:cNvPicPr>
            <a:picLocks noChangeAspect="1"/>
          </p:cNvPicPr>
          <p:nvPr/>
        </p:nvPicPr>
        <p:blipFill>
          <a:blip r:embed="rId1" cstate="hqprint"/>
          <a:stretch>
            <a:fillRect/>
          </a:stretch>
        </p:blipFill>
        <p:spPr>
          <a:xfrm>
            <a:off x="10256080" y="147893"/>
            <a:ext cx="2585059" cy="842671"/>
          </a:xfrm>
          <a:prstGeom prst="rect">
            <a:avLst/>
          </a:prstGeom>
          <a:ln w="12700">
            <a:miter lim="400000"/>
            <a:headEnd/>
            <a:tailEnd/>
          </a:ln>
        </p:spPr>
      </p:pic>
      <p:sp>
        <p:nvSpPr>
          <p:cNvPr id="2" name="Text Box 1"/>
          <p:cNvSpPr txBox="1"/>
          <p:nvPr/>
        </p:nvSpPr>
        <p:spPr>
          <a:xfrm>
            <a:off x="413385" y="1594168"/>
            <a:ext cx="12036425" cy="73037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Findings:</a:t>
            </a:r>
            <a:endPar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(1) Higher acoustic activity of speakers—stronger rhythm, richer expressiveness, greater pitch and loudness variance tend to trigger longer laughter episodes.</a:t>
            </a: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(2) Speakers who maintain stable volume but vary their pitch, rhythm and tone color tend to trigger louder laughter. The impact of rhythm and tone color may be less significant.</a:t>
            </a: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Contributions:</a:t>
            </a:r>
            <a:endPar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(1)</a:t>
            </a: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 </a:t>
            </a: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Guidance on vocal delivery strategies for stand-up comedians</a:t>
            </a: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(2) Psychological research: acoustic humor features &amp; emotional response</a:t>
            </a: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rPr>
              <a:t>Limitations &amp; Future research:</a:t>
            </a:r>
            <a:endParaRPr kumimoji="0" lang="en-US" sz="2600" i="0" u="none" strike="noStrike" cap="none" spc="0" normalizeH="0" baseline="0">
              <a:ln>
                <a:noFill/>
              </a:ln>
              <a:solidFill>
                <a:srgbClr val="000000"/>
              </a:solidFill>
              <a:effectLst/>
              <a:uFillTx/>
              <a:latin typeface="Helvetica Neue Bold" panose="02000503000000020004" charset="0"/>
              <a:ea typeface="Helvetica Neue" panose="02000503000000020004"/>
              <a:cs typeface="Helvetica Neue Bold"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(1) Small sample (only the first minute of the 30 recordings are annotated)--expand the training dataset</a:t>
            </a: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(2) Overlapping sound--noise reduction</a:t>
            </a: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a:p>
            <a:pPr marL="0" marR="0" indent="0" algn="l" defTabSz="584200" rtl="0" fontAlgn="auto" latinLnBrk="0" hangingPunct="0">
              <a:lnSpc>
                <a:spcPct val="100000"/>
              </a:lnSpc>
              <a:spcBef>
                <a:spcPts val="0"/>
              </a:spcBef>
              <a:spcAft>
                <a:spcPts val="0"/>
              </a:spcAft>
              <a:buClrTx/>
              <a:buSzTx/>
              <a:buFontTx/>
              <a:buNone/>
            </a:pPr>
            <a:r>
              <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rPr>
              <a:t>(3) Single acoustic features of speakers cannot fully explain humor delivery--interdisciplinary studies with linguistic studies on joke, psychological studies on emotions and social studies on cultural contexts / media platform.  </a:t>
            </a:r>
            <a:endParaRPr kumimoji="0" lang="en-US" sz="2600" b="0" i="0" u="none" strike="noStrike" cap="none" spc="0" normalizeH="0" baseline="0">
              <a:ln>
                <a:noFill/>
              </a:ln>
              <a:solidFill>
                <a:srgbClr val="000000"/>
              </a:solidFill>
              <a:effectLst/>
              <a:uFillTx/>
              <a:latin typeface="Helvetica Neue" panose="02000503000000020004" charset="0"/>
              <a:ea typeface="Helvetica Neue" panose="02000503000000020004"/>
              <a:cs typeface="Helvetica Neue" panose="02000503000000020004" charset="0"/>
              <a:sym typeface="Helvetica Neue" panose="02000503000000020004"/>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Deep Speaker Embeddings…"/>
          <p:cNvSpPr txBox="1">
            <a:spLocks noGrp="1"/>
          </p:cNvSpPr>
          <p:nvPr>
            <p:ph type="ctrTitle"/>
          </p:nvPr>
        </p:nvSpPr>
        <p:spPr>
          <a:xfrm>
            <a:off x="-16975" y="1964126"/>
            <a:ext cx="13038750" cy="2659224"/>
          </a:xfrm>
          <a:prstGeom prst="rect">
            <a:avLst/>
          </a:prstGeom>
          <a:solidFill>
            <a:srgbClr val="19456F"/>
          </a:solidFill>
        </p:spPr>
        <p:txBody>
          <a:bodyPr anchor="ctr">
            <a:normAutofit/>
          </a:bodyPr>
          <a:lstStyle/>
          <a:p>
            <a:pPr>
              <a:defRPr sz="4200">
                <a:solidFill>
                  <a:srgbClr val="C1D8B4"/>
                </a:solidFill>
              </a:defRPr>
            </a:pPr>
            <a:r>
              <a:rPr lang="en-US" sz="9600" dirty="0">
                <a:solidFill>
                  <a:schemeClr val="bg1">
                    <a:lumMod val="95000"/>
                  </a:schemeClr>
                </a:solidFill>
                <a:latin typeface="Calibri" panose="020F0502020204030204" pitchFamily="34" charset="0"/>
                <a:cs typeface="Calibri" panose="020F0502020204030204" pitchFamily="34" charset="0"/>
              </a:rPr>
              <a:t>Q&amp;A</a:t>
            </a:r>
            <a:endParaRPr sz="9600" dirty="0">
              <a:solidFill>
                <a:schemeClr val="bg1">
                  <a:lumMod val="95000"/>
                </a:schemeClr>
              </a:solidFill>
              <a:latin typeface="Calibri" panose="020F0502020204030204" pitchFamily="34" charset="0"/>
              <a:cs typeface="Calibri" panose="020F0502020204030204" pitchFamily="34" charset="0"/>
            </a:endParaRPr>
          </a:p>
        </p:txBody>
      </p:sp>
      <p:sp>
        <p:nvSpPr>
          <p:cNvPr id="121" name="Slide Number"/>
          <p:cNvSpPr txBox="1">
            <a:spLocks noGrp="1"/>
          </p:cNvSpPr>
          <p:nvPr>
            <p:ph type="sldNum" sz="quarter" idx="4294967295"/>
          </p:nvPr>
        </p:nvSpPr>
        <p:spPr>
          <a:xfrm>
            <a:off x="6395619" y="9296400"/>
            <a:ext cx="206788" cy="348813"/>
          </a:xfrm>
          <a:prstGeom prst="rect">
            <a:avLst/>
          </a:prstGeom>
        </p:spPr>
        <p:txBody>
          <a:bodyPr/>
          <a:lstStyle>
            <a:lvl1pPr>
              <a:defRPr>
                <a:latin typeface="Helvetica Neue Thin" panose="02000503000000020004"/>
                <a:ea typeface="Helvetica Neue Thin" panose="02000503000000020004"/>
                <a:cs typeface="Helvetica Neue Thin" panose="02000503000000020004"/>
                <a:sym typeface="Helvetica Neue Thin" panose="02000503000000020004"/>
              </a:defRPr>
            </a:lvl1pPr>
          </a:lstStyle>
          <a:p>
            <a:fld id="{86CB4B4D-7CA3-9044-876B-883B54F8677D}" type="slidenum">
              <a:rPr smtClean="0">
                <a:latin typeface="Calibri" panose="020F0502020204030204" pitchFamily="34" charset="0"/>
                <a:cs typeface="Calibri" panose="020F0502020204030204" pitchFamily="34" charset="0"/>
              </a:rPr>
            </a:fld>
            <a:endParaRPr dirty="0">
              <a:latin typeface="Calibri" panose="020F0502020204030204" pitchFamily="34" charset="0"/>
              <a:cs typeface="Calibri" panose="020F0502020204030204" pitchFamily="34" charset="0"/>
            </a:endParaRPr>
          </a:p>
        </p:txBody>
      </p:sp>
      <p:pic>
        <p:nvPicPr>
          <p:cNvPr id="11" name="Image" descr="Image"/>
          <p:cNvPicPr>
            <a:picLocks noChangeAspect="1"/>
          </p:cNvPicPr>
          <p:nvPr/>
        </p:nvPicPr>
        <p:blipFill>
          <a:blip r:embed="rId1" cstate="hqprint"/>
          <a:stretch>
            <a:fillRect/>
          </a:stretch>
        </p:blipFill>
        <p:spPr>
          <a:xfrm>
            <a:off x="4627442" y="7317386"/>
            <a:ext cx="3743141" cy="1597025"/>
          </a:xfrm>
          <a:prstGeom prst="rect">
            <a:avLst/>
          </a:prstGeom>
          <a:ln w="12700">
            <a:miter lim="400000"/>
            <a:headEnd/>
            <a:tailEnd/>
          </a:ln>
        </p:spPr>
      </p:pic>
      <p:cxnSp>
        <p:nvCxnSpPr>
          <p:cNvPr id="10" name="直线连接符 9"/>
          <p:cNvCxnSpPr/>
          <p:nvPr/>
        </p:nvCxnSpPr>
        <p:spPr>
          <a:xfrm>
            <a:off x="2259106" y="8719948"/>
            <a:ext cx="8793351" cy="0"/>
          </a:xfrm>
          <a:prstGeom prst="line">
            <a:avLst/>
          </a:prstGeom>
          <a:noFill/>
          <a:ln w="25400" cap="flat">
            <a:solidFill>
              <a:srgbClr val="21466C"/>
            </a:solidFill>
            <a:prstDash val="solid"/>
            <a:miter lim="400000"/>
          </a:ln>
          <a:effectLst/>
          <a:sp3d/>
        </p:spPr>
        <p:style>
          <a:lnRef idx="0">
            <a:scrgbClr r="0" g="0" b="0"/>
          </a:lnRef>
          <a:fillRef idx="0">
            <a:scrgbClr r="0" g="0" b="0"/>
          </a:fillRef>
          <a:effectRef idx="0">
            <a:scrgbClr r="0" g="0" b="0"/>
          </a:effectRef>
          <a:fontRef idx="none"/>
        </p:style>
      </p:cxnSp>
      <p:sp>
        <p:nvSpPr>
          <p:cNvPr id="6" name="Danwei Cai, Zexin Cai and Ming Li…"/>
          <p:cNvSpPr txBox="1">
            <a:spLocks noGrp="1"/>
          </p:cNvSpPr>
          <p:nvPr>
            <p:ph type="subTitle" sz="quarter" idx="1"/>
          </p:nvPr>
        </p:nvSpPr>
        <p:spPr>
          <a:xfrm>
            <a:off x="372745" y="5130165"/>
            <a:ext cx="12252960" cy="2066925"/>
          </a:xfrm>
          <a:prstGeom prst="rect">
            <a:avLst/>
          </a:prstGeom>
        </p:spPr>
        <p:txBody>
          <a:bodyPr>
            <a:normAutofit/>
          </a:bodyPr>
          <a:lstStyle/>
          <a:p>
            <a:pPr>
              <a:defRPr sz="2500">
                <a:solidFill>
                  <a:srgbClr val="24456C"/>
                </a:solidFill>
              </a:defRPr>
            </a:pPr>
            <a:r>
              <a:rPr lang="en-US" sz="3600" dirty="0">
                <a:solidFill>
                  <a:srgbClr val="24456C"/>
                </a:solidFill>
              </a:rPr>
              <a:t>Thank you !</a:t>
            </a:r>
            <a:endParaRPr lang="en-US" sz="3600" dirty="0">
              <a:solidFill>
                <a:srgbClr val="24456C"/>
              </a:solidFill>
            </a:endParaRPr>
          </a:p>
          <a:p>
            <a:pPr>
              <a:defRPr sz="2500">
                <a:solidFill>
                  <a:srgbClr val="24456C"/>
                </a:solidFill>
              </a:defRPr>
            </a:pPr>
            <a:endParaRPr lang="en-US" sz="2000" dirty="0"/>
          </a:p>
          <a:p>
            <a:pPr>
              <a:defRPr sz="2500">
                <a:solidFill>
                  <a:srgbClr val="24456C"/>
                </a:solidFill>
              </a:defRPr>
            </a:pPr>
            <a:r>
              <a:rPr lang="en-US" sz="2000" dirty="0">
                <a:sym typeface="+mn-ea"/>
              </a:rPr>
              <a:t>Zihan Zhang </a:t>
            </a:r>
            <a:endParaRPr lang="en-US" sz="2000" dirty="0"/>
          </a:p>
          <a:p>
            <a:pPr>
              <a:defRPr sz="2500">
                <a:solidFill>
                  <a:srgbClr val="24456C"/>
                </a:solidFill>
              </a:defRPr>
            </a:pPr>
            <a:r>
              <a:rPr lang="en-US" sz="2000" dirty="0">
                <a:sym typeface="+mn-ea"/>
              </a:rPr>
              <a:t>(</a:t>
            </a:r>
            <a:r>
              <a:rPr lang="en-US" altLang="en-US" sz="2000" dirty="0">
                <a:sym typeface="+mn-ea"/>
              </a:rPr>
              <a:t>zihan.zhang3@dukekunshan.edu.cn</a:t>
            </a:r>
            <a:r>
              <a:rPr lang="en-US" sz="2000" dirty="0">
                <a:sym typeface="+mn-ea"/>
              </a:rPr>
              <a:t>)</a:t>
            </a:r>
            <a:endParaRPr lang="en-US" altLang="en-US" sz="2000" dirty="0">
              <a:latin typeface="Calibri" panose="020F0502020204030204" pitchFamily="34" charset="0"/>
              <a:cs typeface="Calibri" panose="020F0502020204030204" pitchFamily="34" charset="0"/>
            </a:endParaRPr>
          </a:p>
        </p:txBody>
      </p:sp>
    </p:spTree>
  </p:cSld>
  <p:clrMapOvr>
    <a:masterClrMapping/>
  </p:clrMapOvr>
  <p:transition spd="med"/>
</p:sld>
</file>

<file path=ppt/tags/tag1.xml><?xml version="1.0" encoding="utf-8"?>
<p:tagLst xmlns:p="http://schemas.openxmlformats.org/presentationml/2006/main">
  <p:tag name="TABLE_ENDDRAG_ORIGIN_RECT" val="845*325"/>
  <p:tag name="TABLE_ENDDRAG_RECT" val="24*368*845*325"/>
</p:tagLst>
</file>

<file path=ppt/tags/tag2.xml><?xml version="1.0" encoding="utf-8"?>
<p:tagLst xmlns:p="http://schemas.openxmlformats.org/presentationml/2006/main">
  <p:tag name="TABLE_ENDDRAG_ORIGIN_RECT" val="983*325"/>
  <p:tag name="TABLE_ENDDRAG_RECT" val="24*110*983*325"/>
</p:tagLst>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200" b="0" i="0" u="none" strike="noStrike" cap="none" spc="0" normalizeH="0" baseline="0">
            <a:ln>
              <a:noFill/>
            </a:ln>
            <a:solidFill>
              <a:srgbClr val="FFFFFF"/>
            </a:solidFill>
            <a:effectLst/>
            <a:uFillTx/>
            <a:latin typeface="+mn-lt"/>
            <a:ea typeface="+mn-ea"/>
            <a:cs typeface="+mn-cs"/>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200" b="0" i="0" u="none" strike="noStrike" cap="none" spc="0" normalizeH="0" baseline="0">
            <a:ln>
              <a:noFill/>
            </a:ln>
            <a:solidFill>
              <a:srgbClr val="FFFFFF"/>
            </a:solidFill>
            <a:effectLst/>
            <a:uFillTx/>
            <a:latin typeface="+mn-lt"/>
            <a:ea typeface="+mn-ea"/>
            <a:cs typeface="+mn-cs"/>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8051</Words>
  <Application>WPS Sheets</Application>
  <PresentationFormat>Custom</PresentationFormat>
  <Paragraphs>379</Paragraphs>
  <Slides>13</Slides>
  <Notes>8</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13</vt:i4>
      </vt:variant>
    </vt:vector>
  </HeadingPairs>
  <TitlesOfParts>
    <vt:vector size="33" baseType="lpstr">
      <vt:lpstr>Arial</vt:lpstr>
      <vt:lpstr>SimSun</vt:lpstr>
      <vt:lpstr>Wingdings</vt:lpstr>
      <vt:lpstr>Helvetica Neue</vt:lpstr>
      <vt:lpstr>Helvetica Neue Medium</vt:lpstr>
      <vt:lpstr>Calibri</vt:lpstr>
      <vt:lpstr>Helvetica Neue</vt:lpstr>
      <vt:lpstr>Helvetica Neue Light</vt:lpstr>
      <vt:lpstr>Helvetica Neue Thin</vt:lpstr>
      <vt:lpstr>Helvetica</vt:lpstr>
      <vt:lpstr>Helvetica Neue Bold</vt:lpstr>
      <vt:lpstr>Helvetica Neue Italic</vt:lpstr>
      <vt:lpstr>Microsoft YaHei</vt:lpstr>
      <vt:lpstr>汉仪旗黑</vt:lpstr>
      <vt:lpstr>汉仪书宋二KW</vt:lpstr>
      <vt:lpstr>Arial Unicode MS</vt:lpstr>
      <vt:lpstr>Helvetica Neue Light</vt:lpstr>
      <vt:lpstr>Helvetica Neue Medium</vt:lpstr>
      <vt:lpstr>Helvetica Neue Thin</vt:lpstr>
      <vt:lpstr>White</vt:lpstr>
      <vt:lpstr>What Makes People Laugh?</vt:lpstr>
      <vt:lpstr>Problem Description</vt:lpstr>
      <vt:lpstr>Data &amp; Preprocessing</vt:lpstr>
      <vt:lpstr>Method</vt:lpstr>
      <vt:lpstr>Model Selection</vt:lpstr>
      <vt:lpstr>Method Laughter Detection</vt:lpstr>
      <vt:lpstr>Method Analysis of Speaker-Laughter Relationship</vt:lpstr>
      <vt:lpstr>Final Results -- OLS</vt:lpstr>
      <vt:lpstr>Final Results -- Lasso</vt:lpstr>
      <vt:lpstr>Final Results -- PCA</vt:lpstr>
      <vt:lpstr>Final Results -- PCA</vt:lpstr>
      <vt:lpstr>Discussion</vt:lpstr>
      <vt:lpstr>Q&amp;A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Speaker Embeddings  with Convolutional Neural Network on Supervector  for Text-Independent Speaker Recognition</dc:title>
  <dc:creator/>
  <cp:lastModifiedBy>，</cp:lastModifiedBy>
  <cp:revision>250</cp:revision>
  <cp:lastPrinted>2026-03-03T10:19:25Z</cp:lastPrinted>
  <dcterms:created xsi:type="dcterms:W3CDTF">2026-03-03T10:19:25Z</dcterms:created>
  <dcterms:modified xsi:type="dcterms:W3CDTF">2026-03-03T10:19:25Z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0BA4D5D19B698B9B6F4EA569BD27F27D_43</vt:lpwstr>
  </property>
  <property fmtid="{D5CDD505-2E9C-101B-9397-08002B2CF9AE}" pid="3" name="KSOProductBuildVer">
    <vt:lpwstr>1033-12.1.24703.24703</vt:lpwstr>
  </property>
</Properties>
</file>